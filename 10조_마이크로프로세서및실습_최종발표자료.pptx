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5" r:id="rId5"/>
    <p:sldId id="286" r:id="rId6"/>
    <p:sldId id="274" r:id="rId7"/>
    <p:sldId id="276" r:id="rId8"/>
    <p:sldId id="277" r:id="rId9"/>
    <p:sldId id="259" r:id="rId10"/>
    <p:sldId id="260" r:id="rId11"/>
    <p:sldId id="267" r:id="rId12"/>
    <p:sldId id="273" r:id="rId13"/>
    <p:sldId id="278" r:id="rId14"/>
    <p:sldId id="285" r:id="rId15"/>
    <p:sldId id="290" r:id="rId16"/>
    <p:sldId id="279" r:id="rId17"/>
    <p:sldId id="280" r:id="rId18"/>
    <p:sldId id="287" r:id="rId19"/>
    <p:sldId id="281" r:id="rId20"/>
    <p:sldId id="282" r:id="rId21"/>
    <p:sldId id="288" r:id="rId22"/>
    <p:sldId id="289" r:id="rId23"/>
    <p:sldId id="264" r:id="rId24"/>
    <p:sldId id="283" r:id="rId25"/>
    <p:sldId id="272" r:id="rId26"/>
    <p:sldId id="284" r:id="rId27"/>
    <p:sldId id="266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3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86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01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47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2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09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90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75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04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47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2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63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6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07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1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03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01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15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01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71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91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맑은 고딕" panose="020B0503020000020004" pitchFamily="50" charset="-127"/>
              </a:rPr>
              <a:t>마이크로프로세서 응용 설계  |  final project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dirty="0">
                <a:solidFill>
                  <a:srgbClr val="8EAAB8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기말 프로젝트</a:t>
            </a:r>
            <a:endParaRPr lang="en-US" sz="3200" dirty="0">
              <a:latin typeface="맑은 고딕" panose="020B050302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서비스업 매장의</a:t>
            </a:r>
            <a:endParaRPr lang="en-US" altLang="ko-KR" sz="4600" b="1" dirty="0">
              <a:solidFill>
                <a:srgbClr val="FFFFFF"/>
              </a:solidFill>
              <a:latin typeface="맑은 고딕" panose="020B0503020000020004" pitchFamily="50" charset="-127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판매량</a:t>
            </a:r>
            <a:r>
              <a:rPr lang="en-US" sz="460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예측</a:t>
            </a:r>
            <a:r>
              <a:rPr lang="en-US" sz="460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460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시스템</a:t>
            </a:r>
            <a:endParaRPr lang="en-US" sz="4600" dirty="0"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DEDEF4-5161-4766-8A2C-666D921F143E}"/>
              </a:ext>
            </a:extLst>
          </p:cNvPr>
          <p:cNvSpPr txBox="1"/>
          <p:nvPr/>
        </p:nvSpPr>
        <p:spPr>
          <a:xfrm>
            <a:off x="457200" y="4297680"/>
            <a:ext cx="2589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크리 </a:t>
            </a:r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ATE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조 </a:t>
            </a:r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박민규</a:t>
            </a:r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류찬무</a:t>
            </a:r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김승현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서비스업 매장의 재고 관리, 왜 어려운가?</a:t>
            </a:r>
            <a:endParaRPr lang="en-US" sz="2800" dirty="0">
              <a:latin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97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맑은 고딕" panose="020B0503020000020004" pitchFamily="50" charset="-127"/>
              </a:rPr>
              <a:t>⏰</a:t>
            </a:r>
            <a:endParaRPr lang="en-US" sz="3400" dirty="0">
              <a:latin typeface="맑은 고딕" panose="020B050302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예측 불가능한 수요</a:t>
            </a:r>
            <a:endParaRPr lang="en-US" sz="1400" dirty="0">
              <a:latin typeface="맑은 고딕" panose="020B050302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시간대·날씨·요일에 따라</a:t>
            </a:r>
            <a:endParaRPr lang="en-US" sz="120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판매량이 크게 달라지지만</a:t>
            </a:r>
            <a:endParaRPr lang="en-US" sz="120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이를 예측할 수단이 없음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697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91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맑은 고딕" panose="020B0503020000020004" pitchFamily="50" charset="-127"/>
              </a:rPr>
              <a:t>📦</a:t>
            </a:r>
            <a:endParaRPr lang="en-US" sz="3400" dirty="0">
              <a:latin typeface="맑은 고딕" panose="020B050302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재고 부족·과잉 반복</a:t>
            </a:r>
            <a:endParaRPr lang="en-US" sz="1400" dirty="0">
              <a:latin typeface="맑은 고딕" panose="020B050302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경험 의존적 발주로</a:t>
            </a:r>
            <a:endParaRPr lang="en-US" sz="120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재고 부족 또는 과잉 발생,</a:t>
            </a:r>
            <a:endParaRPr lang="en-US" sz="120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폐기 비용·기회 손실 증가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508760"/>
            <a:ext cx="2697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91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맑은 고딕" panose="020B0503020000020004" pitchFamily="50" charset="-127"/>
              </a:rPr>
              <a:t>💸</a:t>
            </a:r>
            <a:endParaRPr lang="en-US" sz="3400" dirty="0">
              <a:latin typeface="맑은 고딕" panose="020B050302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0" y="2377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고비용 솔루션의 한계</a:t>
            </a:r>
            <a:endParaRPr lang="en-US" sz="1400" dirty="0">
              <a:latin typeface="맑은 고딕" panose="020B050302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POS 연동 재고 시스템은</a:t>
            </a:r>
            <a:endParaRPr lang="en-US" sz="120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소규모 매장 도입 비용이</a:t>
            </a:r>
            <a:endParaRPr lang="en-US" sz="120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수십만 ~ 수백만 원 수준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451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맑은 고딕" panose="020B0503020000020004" pitchFamily="50" charset="-127"/>
              </a:rPr>
              <a:t>→ 저비용으로 환경 데이터를 활용한 자동 예측이 필요하다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02  솔루션 개요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무엇을 만드는가?</a:t>
            </a:r>
            <a:endParaRPr lang="en-US" sz="2800" dirty="0">
              <a:latin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128016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b="1" dirty="0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Arduino </a:t>
            </a:r>
            <a:r>
              <a:rPr lang="en-US" altLang="ko-KR" sz="1500" b="1" dirty="0" err="1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MEGA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가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온도·습도·조도·시간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등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환경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데이터를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읽고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,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SD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카드의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r>
              <a:rPr lang="en-US" altLang="ko-KR" sz="1500" b="1" dirty="0" err="1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과거</a:t>
            </a:r>
            <a:r>
              <a:rPr lang="en-US" altLang="ko-KR" sz="1500" b="1" dirty="0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b="1" dirty="0" err="1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</a:t>
            </a:r>
            <a:r>
              <a:rPr lang="en-US" altLang="ko-KR" sz="1500" b="1" dirty="0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b="1" dirty="0" err="1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기록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과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비교하여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오늘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시간대에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b="1" dirty="0" err="1">
                <a:solidFill>
                  <a:srgbClr val="F5C842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메뉴별</a:t>
            </a:r>
            <a:r>
              <a:rPr lang="en-US" altLang="ko-KR" sz="1500" b="1" dirty="0">
                <a:solidFill>
                  <a:srgbClr val="F5C842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b="1" dirty="0" err="1">
                <a:solidFill>
                  <a:srgbClr val="F5C842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예상</a:t>
            </a:r>
            <a:r>
              <a:rPr lang="en-US" altLang="ko-KR" sz="1500" b="1" dirty="0">
                <a:solidFill>
                  <a:srgbClr val="F5C842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b="1" dirty="0" err="1">
                <a:solidFill>
                  <a:srgbClr val="F5C842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판매량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을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LCD에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출력하는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저가형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재고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관리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보조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장치</a:t>
            </a:r>
            <a:r>
              <a:rPr lang="en-US" altLang="ko-KR" sz="1500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endParaRPr lang="en-US" altLang="ko-KR" sz="1500" dirty="0">
              <a:latin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269748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9260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anose="020B0503020000020004" pitchFamily="50" charset="-127"/>
              </a:rPr>
              <a:t>🌡️</a:t>
            </a: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환경 감지</a:t>
            </a:r>
            <a:endParaRPr lang="en-US" sz="1400" dirty="0">
              <a:latin typeface="맑은 고딕" panose="020B050302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AB8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온도·습도·조도</a:t>
            </a:r>
            <a:endParaRPr lang="en-US" sz="120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8EAAB8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+ RTC 시간·요일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2834640"/>
            <a:ext cx="269748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9260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anose="020B0503020000020004" pitchFamily="50" charset="-127"/>
              </a:rPr>
              <a:t>🧮</a:t>
            </a: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내부 연산</a:t>
            </a:r>
            <a:endParaRPr lang="en-US" sz="1400" dirty="0">
              <a:latin typeface="맑은 고딕" panose="020B050302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3977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8EAAB8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예측 </a:t>
            </a:r>
            <a:r>
              <a:rPr lang="en-US" sz="1200" dirty="0" err="1">
                <a:solidFill>
                  <a:srgbClr val="8EAAB8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알고리즘</a:t>
            </a:r>
            <a:r>
              <a:rPr lang="en-US" sz="1200" dirty="0">
                <a:solidFill>
                  <a:srgbClr val="8EAAB8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(Arduino)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2834640"/>
            <a:ext cx="269748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9260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anose="020B0503020000020004" pitchFamily="50" charset="-127"/>
              </a:rPr>
              <a:t>📊</a:t>
            </a: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72200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메뉴별 출력</a:t>
            </a:r>
            <a:endParaRPr lang="en-US" sz="1400" dirty="0">
              <a:latin typeface="맑은 고딕" panose="020B050302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0" y="3977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AB8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메뉴A·B·C</a:t>
            </a:r>
            <a:endParaRPr lang="en-US" sz="120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8EAAB8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예상 판매량 표시</a:t>
            </a:r>
            <a:endParaRPr lang="en-US" sz="1200" dirty="0"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317ECA-1160-4AEE-941B-5D97BB1A9BA7}"/>
              </a:ext>
            </a:extLst>
          </p:cNvPr>
          <p:cNvSpPr txBox="1"/>
          <p:nvPr/>
        </p:nvSpPr>
        <p:spPr>
          <a:xfrm>
            <a:off x="-331893" y="988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317ECA-1160-4AEE-941B-5D97BB1A9BA7}"/>
              </a:ext>
            </a:extLst>
          </p:cNvPr>
          <p:cNvSpPr txBox="1"/>
          <p:nvPr/>
        </p:nvSpPr>
        <p:spPr>
          <a:xfrm>
            <a:off x="-331893" y="988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45A9378-23BF-47C9-B24F-5E78FDA23697}"/>
              </a:ext>
            </a:extLst>
          </p:cNvPr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02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솔루션 개요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71047C14-4D3A-46AC-A02C-2773805ECDFC}"/>
              </a:ext>
            </a:extLst>
          </p:cNvPr>
          <p:cNvSpPr/>
          <p:nvPr/>
        </p:nvSpPr>
        <p:spPr>
          <a:xfrm>
            <a:off x="320040" y="5943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무엇을 만드는가</a:t>
            </a:r>
            <a:r>
              <a:rPr lang="en-US" altLang="ko-KR" sz="28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>
              <a:latin typeface="맑은 고딕" panose="020B0503020000020004" pitchFamily="50" charset="-127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A785AFE1-6029-4B3A-8F8E-8CFF1FEE3F60}"/>
              </a:ext>
            </a:extLst>
          </p:cNvPr>
          <p:cNvSpPr/>
          <p:nvPr/>
        </p:nvSpPr>
        <p:spPr>
          <a:xfrm>
            <a:off x="570276" y="1418970"/>
            <a:ext cx="2219224" cy="2398472"/>
          </a:xfrm>
          <a:custGeom>
            <a:avLst/>
            <a:gdLst/>
            <a:ahLst/>
            <a:cxnLst/>
            <a:rect l="l" t="t" r="r" b="b"/>
            <a:pathLst>
              <a:path w="3830193" h="4114800">
                <a:moveTo>
                  <a:pt x="0" y="0"/>
                </a:moveTo>
                <a:lnTo>
                  <a:pt x="3830193" y="0"/>
                </a:lnTo>
                <a:lnTo>
                  <a:pt x="38301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2EAAA454-83A7-4C69-A986-26A1B3FC9D8A}"/>
              </a:ext>
            </a:extLst>
          </p:cNvPr>
          <p:cNvSpPr/>
          <p:nvPr/>
        </p:nvSpPr>
        <p:spPr>
          <a:xfrm rot="5400000">
            <a:off x="2864596" y="2440399"/>
            <a:ext cx="539835" cy="468945"/>
          </a:xfrm>
          <a:custGeom>
            <a:avLst/>
            <a:gdLst/>
            <a:ahLst/>
            <a:cxnLst/>
            <a:rect l="l" t="t" r="r" b="b"/>
            <a:pathLst>
              <a:path w="1111324" h="1538165">
                <a:moveTo>
                  <a:pt x="0" y="0"/>
                </a:moveTo>
                <a:lnTo>
                  <a:pt x="1111324" y="0"/>
                </a:lnTo>
                <a:lnTo>
                  <a:pt x="1111324" y="1538165"/>
                </a:lnTo>
                <a:lnTo>
                  <a:pt x="0" y="153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C1EFF545-914C-44AE-AA91-80B540FC4E18}"/>
              </a:ext>
            </a:extLst>
          </p:cNvPr>
          <p:cNvSpPr/>
          <p:nvPr/>
        </p:nvSpPr>
        <p:spPr>
          <a:xfrm>
            <a:off x="3496237" y="1418970"/>
            <a:ext cx="2219224" cy="2398472"/>
          </a:xfrm>
          <a:custGeom>
            <a:avLst/>
            <a:gdLst/>
            <a:ahLst/>
            <a:cxnLst/>
            <a:rect l="l" t="t" r="r" b="b"/>
            <a:pathLst>
              <a:path w="3830193" h="4114800">
                <a:moveTo>
                  <a:pt x="0" y="0"/>
                </a:moveTo>
                <a:lnTo>
                  <a:pt x="3830193" y="0"/>
                </a:lnTo>
                <a:lnTo>
                  <a:pt x="38301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C45924A6-2351-4CDE-B778-2FF67A50E58A}"/>
              </a:ext>
            </a:extLst>
          </p:cNvPr>
          <p:cNvSpPr/>
          <p:nvPr/>
        </p:nvSpPr>
        <p:spPr>
          <a:xfrm>
            <a:off x="6422199" y="1475636"/>
            <a:ext cx="2219224" cy="2398472"/>
          </a:xfrm>
          <a:custGeom>
            <a:avLst/>
            <a:gdLst/>
            <a:ahLst/>
            <a:cxnLst/>
            <a:rect l="l" t="t" r="r" b="b"/>
            <a:pathLst>
              <a:path w="3830193" h="4114800">
                <a:moveTo>
                  <a:pt x="0" y="0"/>
                </a:moveTo>
                <a:lnTo>
                  <a:pt x="3830193" y="0"/>
                </a:lnTo>
                <a:lnTo>
                  <a:pt x="38301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8">
            <a:extLst>
              <a:ext uri="{FF2B5EF4-FFF2-40B4-BE49-F238E27FC236}">
                <a16:creationId xmlns:a16="http://schemas.microsoft.com/office/drawing/2014/main" id="{48B19231-2328-4934-886B-9F232915298A}"/>
              </a:ext>
            </a:extLst>
          </p:cNvPr>
          <p:cNvSpPr/>
          <p:nvPr/>
        </p:nvSpPr>
        <p:spPr>
          <a:xfrm rot="5400000">
            <a:off x="5798912" y="2440398"/>
            <a:ext cx="539835" cy="468945"/>
          </a:xfrm>
          <a:custGeom>
            <a:avLst/>
            <a:gdLst/>
            <a:ahLst/>
            <a:cxnLst/>
            <a:rect l="l" t="t" r="r" b="b"/>
            <a:pathLst>
              <a:path w="1111324" h="1538165">
                <a:moveTo>
                  <a:pt x="0" y="0"/>
                </a:moveTo>
                <a:lnTo>
                  <a:pt x="1111324" y="0"/>
                </a:lnTo>
                <a:lnTo>
                  <a:pt x="1111324" y="1538165"/>
                </a:lnTo>
                <a:lnTo>
                  <a:pt x="0" y="153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F167A0-179D-4AAD-A118-435C049536DF}"/>
              </a:ext>
            </a:extLst>
          </p:cNvPr>
          <p:cNvSpPr txBox="1"/>
          <p:nvPr/>
        </p:nvSpPr>
        <p:spPr>
          <a:xfrm flipH="1">
            <a:off x="714864" y="2436711"/>
            <a:ext cx="193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구매자가 원하는 날짜와 시간대 입력 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99864E7-7213-499F-AAF7-3A771DE1DFD1}"/>
              </a:ext>
            </a:extLst>
          </p:cNvPr>
          <p:cNvSpPr/>
          <p:nvPr/>
        </p:nvSpPr>
        <p:spPr>
          <a:xfrm>
            <a:off x="3731088" y="2313599"/>
            <a:ext cx="18524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dirty="0"/>
              <a:t>조건에 맞는 </a:t>
            </a:r>
            <a:endParaRPr lang="en-US" altLang="ko-KR" sz="1600" b="1" dirty="0"/>
          </a:p>
          <a:p>
            <a:r>
              <a:rPr lang="ko-KR" altLang="en-US" sz="1600" b="1" dirty="0"/>
              <a:t>예상 판매량을 보여줌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0F01EFC-7936-4392-9768-EC0C5C2B082E}"/>
              </a:ext>
            </a:extLst>
          </p:cNvPr>
          <p:cNvSpPr/>
          <p:nvPr/>
        </p:nvSpPr>
        <p:spPr>
          <a:xfrm>
            <a:off x="6590450" y="2514960"/>
            <a:ext cx="2233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dirty="0"/>
              <a:t>업자는 이를 토대로 재고 주문</a:t>
            </a:r>
          </a:p>
        </p:txBody>
      </p:sp>
    </p:spTree>
    <p:extLst>
      <p:ext uri="{BB962C8B-B14F-4D97-AF65-F5344CB8AC3E}">
        <p14:creationId xmlns:p14="http://schemas.microsoft.com/office/powerpoint/2010/main" val="356328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317ECA-1160-4AEE-941B-5D97BB1A9BA7}"/>
              </a:ext>
            </a:extLst>
          </p:cNvPr>
          <p:cNvSpPr txBox="1"/>
          <p:nvPr/>
        </p:nvSpPr>
        <p:spPr>
          <a:xfrm>
            <a:off x="-331893" y="988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C3898448-3E88-4020-8009-9288F54A8568}"/>
              </a:ext>
            </a:extLst>
          </p:cNvPr>
          <p:cNvSpPr/>
          <p:nvPr/>
        </p:nvSpPr>
        <p:spPr>
          <a:xfrm>
            <a:off x="1157902" y="783166"/>
            <a:ext cx="6523058" cy="3689773"/>
          </a:xfrm>
          <a:custGeom>
            <a:avLst/>
            <a:gdLst/>
            <a:ahLst/>
            <a:cxnLst/>
            <a:rect l="l" t="t" r="r" b="b"/>
            <a:pathLst>
              <a:path w="12253034" h="6623262">
                <a:moveTo>
                  <a:pt x="0" y="0"/>
                </a:moveTo>
                <a:lnTo>
                  <a:pt x="12253034" y="0"/>
                </a:lnTo>
                <a:lnTo>
                  <a:pt x="12253034" y="6623261"/>
                </a:lnTo>
                <a:lnTo>
                  <a:pt x="0" y="66232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0272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99F1C8EB-A794-4B6D-B5D6-5CECC63C7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999" y="714120"/>
            <a:ext cx="5405120" cy="4053840"/>
          </a:xfrm>
          <a:prstGeom prst="rect">
            <a:avLst/>
          </a:prstGeom>
        </p:spPr>
      </p:pic>
      <p:pic>
        <p:nvPicPr>
          <p:cNvPr id="27" name="Picture 4" descr="포스기 카드단말기 토탈솔루션 메타포스 : 메타이노베이션">
            <a:extLst>
              <a:ext uri="{FF2B5EF4-FFF2-40B4-BE49-F238E27FC236}">
                <a16:creationId xmlns:a16="http://schemas.microsoft.com/office/drawing/2014/main" id="{9AE91A1C-0361-493C-85FA-A317FF96F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626" y="-413173"/>
            <a:ext cx="2815634" cy="281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317ECA-1160-4AEE-941B-5D97BB1A9BA7}"/>
              </a:ext>
            </a:extLst>
          </p:cNvPr>
          <p:cNvSpPr txBox="1"/>
          <p:nvPr/>
        </p:nvSpPr>
        <p:spPr>
          <a:xfrm>
            <a:off x="-331893" y="988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BF30292-A823-4262-AC93-10990796162E}"/>
              </a:ext>
            </a:extLst>
          </p:cNvPr>
          <p:cNvSpPr/>
          <p:nvPr/>
        </p:nvSpPr>
        <p:spPr>
          <a:xfrm>
            <a:off x="6203527" y="1995592"/>
            <a:ext cx="1225973" cy="765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F6527EB-9827-494B-8443-190C8BEE827F}"/>
              </a:ext>
            </a:extLst>
          </p:cNvPr>
          <p:cNvSpPr/>
          <p:nvPr/>
        </p:nvSpPr>
        <p:spPr>
          <a:xfrm>
            <a:off x="6332220" y="2097193"/>
            <a:ext cx="934720" cy="36576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AUTO 13:45</a:t>
            </a:r>
          </a:p>
          <a:p>
            <a:pPr algn="ctr"/>
            <a:r>
              <a:rPr lang="en-US" altLang="ko-KR" sz="800" dirty="0"/>
              <a:t>A : 00 B : 00 C:00</a:t>
            </a:r>
            <a:endParaRPr lang="ko-KR" altLang="en-US" sz="800" dirty="0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2D2A174D-78FC-431E-AAA8-1047EC177B16}"/>
              </a:ext>
            </a:extLst>
          </p:cNvPr>
          <p:cNvSpPr/>
          <p:nvPr/>
        </p:nvSpPr>
        <p:spPr>
          <a:xfrm>
            <a:off x="6103572" y="1188136"/>
            <a:ext cx="1542675" cy="784401"/>
          </a:xfrm>
          <a:custGeom>
            <a:avLst/>
            <a:gdLst>
              <a:gd name="connsiteX0" fmla="*/ 1542675 w 1542675"/>
              <a:gd name="connsiteY0" fmla="*/ 0 h 784401"/>
              <a:gd name="connsiteX1" fmla="*/ 723101 w 1542675"/>
              <a:gd name="connsiteY1" fmla="*/ 20320 h 784401"/>
              <a:gd name="connsiteX2" fmla="*/ 1454621 w 1542675"/>
              <a:gd name="connsiteY2" fmla="*/ 209973 h 784401"/>
              <a:gd name="connsiteX3" fmla="*/ 127048 w 1542675"/>
              <a:gd name="connsiteY3" fmla="*/ 365760 h 784401"/>
              <a:gd name="connsiteX4" fmla="*/ 404755 w 1542675"/>
              <a:gd name="connsiteY4" fmla="*/ 460587 h 784401"/>
              <a:gd name="connsiteX5" fmla="*/ 11901 w 1542675"/>
              <a:gd name="connsiteY5" fmla="*/ 514773 h 784401"/>
              <a:gd name="connsiteX6" fmla="*/ 99955 w 1542675"/>
              <a:gd name="connsiteY6" fmla="*/ 758613 h 784401"/>
              <a:gd name="connsiteX7" fmla="*/ 79635 w 1542675"/>
              <a:gd name="connsiteY7" fmla="*/ 765387 h 7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2675" h="784401">
                <a:moveTo>
                  <a:pt x="1542675" y="0"/>
                </a:moveTo>
                <a:lnTo>
                  <a:pt x="723101" y="20320"/>
                </a:lnTo>
                <a:cubicBezTo>
                  <a:pt x="708425" y="55315"/>
                  <a:pt x="1553963" y="152400"/>
                  <a:pt x="1454621" y="209973"/>
                </a:cubicBezTo>
                <a:cubicBezTo>
                  <a:pt x="1355279" y="267546"/>
                  <a:pt x="302026" y="323991"/>
                  <a:pt x="127048" y="365760"/>
                </a:cubicBezTo>
                <a:cubicBezTo>
                  <a:pt x="-47930" y="407529"/>
                  <a:pt x="423946" y="435752"/>
                  <a:pt x="404755" y="460587"/>
                </a:cubicBezTo>
                <a:cubicBezTo>
                  <a:pt x="385564" y="485422"/>
                  <a:pt x="62701" y="465102"/>
                  <a:pt x="11901" y="514773"/>
                </a:cubicBezTo>
                <a:cubicBezTo>
                  <a:pt x="-38899" y="564444"/>
                  <a:pt x="88666" y="716844"/>
                  <a:pt x="99955" y="758613"/>
                </a:cubicBezTo>
                <a:cubicBezTo>
                  <a:pt x="111244" y="800382"/>
                  <a:pt x="95439" y="782884"/>
                  <a:pt x="79635" y="76538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8EDC616-76AB-4996-8A50-E359DD3A6D2F}"/>
              </a:ext>
            </a:extLst>
          </p:cNvPr>
          <p:cNvSpPr/>
          <p:nvPr/>
        </p:nvSpPr>
        <p:spPr>
          <a:xfrm>
            <a:off x="6174060" y="1913524"/>
            <a:ext cx="128693" cy="1180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D648DE26-5F6E-42A3-AE9E-C82349AEBA5E}"/>
              </a:ext>
            </a:extLst>
          </p:cNvPr>
          <p:cNvSpPr/>
          <p:nvPr/>
        </p:nvSpPr>
        <p:spPr>
          <a:xfrm rot="20236178">
            <a:off x="5681078" y="2482576"/>
            <a:ext cx="535728" cy="21948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39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05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예측 알고리즘</a:t>
            </a:r>
            <a:endParaRPr lang="en-US" altLang="ko-KR" sz="1100" b="1" kern="0" spc="300" dirty="0">
              <a:solidFill>
                <a:srgbClr val="028090"/>
              </a:solidFill>
              <a:latin typeface="맑은 고딕" panose="020B0503020000020004" pitchFamily="50" charset="-127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FF9AA922-7051-46E9-9BA9-ADBED4DD6F6F}"/>
              </a:ext>
            </a:extLst>
          </p:cNvPr>
          <p:cNvSpPr/>
          <p:nvPr/>
        </p:nvSpPr>
        <p:spPr>
          <a:xfrm>
            <a:off x="411497" y="846243"/>
            <a:ext cx="2338476" cy="3451013"/>
          </a:xfrm>
          <a:custGeom>
            <a:avLst/>
            <a:gdLst/>
            <a:ahLst/>
            <a:cxnLst/>
            <a:rect l="l" t="t" r="r" b="b"/>
            <a:pathLst>
              <a:path w="4315292" h="6421934">
                <a:moveTo>
                  <a:pt x="0" y="0"/>
                </a:moveTo>
                <a:lnTo>
                  <a:pt x="4315292" y="0"/>
                </a:lnTo>
                <a:lnTo>
                  <a:pt x="4315292" y="6421935"/>
                </a:lnTo>
                <a:lnTo>
                  <a:pt x="0" y="642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586" t="-7505" r="-26927" b="-11257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AC82-B6FB-407E-A2AE-66E65A048856}"/>
              </a:ext>
            </a:extLst>
          </p:cNvPr>
          <p:cNvSpPr txBox="1"/>
          <p:nvPr/>
        </p:nvSpPr>
        <p:spPr>
          <a:xfrm>
            <a:off x="636694" y="4400881"/>
            <a:ext cx="233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년도</a:t>
            </a:r>
            <a:r>
              <a:rPr lang="en-US" altLang="ko-KR" b="1" dirty="0"/>
              <a:t>/</a:t>
            </a:r>
            <a:r>
              <a:rPr lang="ko-KR" altLang="en-US" b="1" dirty="0"/>
              <a:t>날짜 입력</a:t>
            </a:r>
          </a:p>
        </p:txBody>
      </p:sp>
      <p:sp>
        <p:nvSpPr>
          <p:cNvPr id="49" name="Freeform 8">
            <a:extLst>
              <a:ext uri="{FF2B5EF4-FFF2-40B4-BE49-F238E27FC236}">
                <a16:creationId xmlns:a16="http://schemas.microsoft.com/office/drawing/2014/main" id="{6BFD5EAF-5DFC-42D0-9AB0-895220E843B0}"/>
              </a:ext>
            </a:extLst>
          </p:cNvPr>
          <p:cNvSpPr/>
          <p:nvPr/>
        </p:nvSpPr>
        <p:spPr>
          <a:xfrm>
            <a:off x="3410272" y="846243"/>
            <a:ext cx="2123541" cy="894722"/>
          </a:xfrm>
          <a:custGeom>
            <a:avLst/>
            <a:gdLst/>
            <a:ahLst/>
            <a:cxnLst/>
            <a:rect l="l" t="t" r="r" b="b"/>
            <a:pathLst>
              <a:path w="3331058" h="1444214">
                <a:moveTo>
                  <a:pt x="0" y="0"/>
                </a:moveTo>
                <a:lnTo>
                  <a:pt x="3331058" y="0"/>
                </a:lnTo>
                <a:lnTo>
                  <a:pt x="3331058" y="1444213"/>
                </a:lnTo>
                <a:lnTo>
                  <a:pt x="0" y="1444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832" t="-306366" r="-49258" b="-123060"/>
            </a:stretch>
          </a:blipFill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5930CA-1B0D-4353-B262-7F4270100CE1}"/>
              </a:ext>
            </a:extLst>
          </p:cNvPr>
          <p:cNvSpPr txBox="1"/>
          <p:nvPr/>
        </p:nvSpPr>
        <p:spPr>
          <a:xfrm>
            <a:off x="3674534" y="1803307"/>
            <a:ext cx="233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시작시간 입력</a:t>
            </a:r>
          </a:p>
        </p:txBody>
      </p:sp>
      <p:sp>
        <p:nvSpPr>
          <p:cNvPr id="51" name="Freeform 9">
            <a:extLst>
              <a:ext uri="{FF2B5EF4-FFF2-40B4-BE49-F238E27FC236}">
                <a16:creationId xmlns:a16="http://schemas.microsoft.com/office/drawing/2014/main" id="{DAA02924-F3AF-4261-8A89-D5063EFA1F9E}"/>
              </a:ext>
            </a:extLst>
          </p:cNvPr>
          <p:cNvSpPr/>
          <p:nvPr/>
        </p:nvSpPr>
        <p:spPr>
          <a:xfrm>
            <a:off x="3410272" y="2331513"/>
            <a:ext cx="2186110" cy="894722"/>
          </a:xfrm>
          <a:custGeom>
            <a:avLst/>
            <a:gdLst/>
            <a:ahLst/>
            <a:cxnLst/>
            <a:rect l="l" t="t" r="r" b="b"/>
            <a:pathLst>
              <a:path w="3331058" h="1273306">
                <a:moveTo>
                  <a:pt x="0" y="0"/>
                </a:moveTo>
                <a:lnTo>
                  <a:pt x="3331058" y="0"/>
                </a:lnTo>
                <a:lnTo>
                  <a:pt x="3331058" y="1273307"/>
                </a:lnTo>
                <a:lnTo>
                  <a:pt x="0" y="1273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799" t="-327736" r="-23828" b="-44948"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513C7-D999-45F8-AA6B-AFA819E29A3A}"/>
              </a:ext>
            </a:extLst>
          </p:cNvPr>
          <p:cNvSpPr txBox="1"/>
          <p:nvPr/>
        </p:nvSpPr>
        <p:spPr>
          <a:xfrm>
            <a:off x="4091093" y="3474720"/>
            <a:ext cx="880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끝시간</a:t>
            </a:r>
            <a:endParaRPr lang="ko-KR" altLang="en-US" b="1" dirty="0"/>
          </a:p>
        </p:txBody>
      </p:sp>
      <p:sp>
        <p:nvSpPr>
          <p:cNvPr id="52" name="Freeform 10">
            <a:extLst>
              <a:ext uri="{FF2B5EF4-FFF2-40B4-BE49-F238E27FC236}">
                <a16:creationId xmlns:a16="http://schemas.microsoft.com/office/drawing/2014/main" id="{CF08405D-D4A4-4B9B-B3F3-FC43DFC27D0C}"/>
              </a:ext>
            </a:extLst>
          </p:cNvPr>
          <p:cNvSpPr/>
          <p:nvPr/>
        </p:nvSpPr>
        <p:spPr>
          <a:xfrm>
            <a:off x="5850450" y="807389"/>
            <a:ext cx="3039421" cy="2609820"/>
          </a:xfrm>
          <a:custGeom>
            <a:avLst/>
            <a:gdLst/>
            <a:ahLst/>
            <a:cxnLst/>
            <a:rect l="l" t="t" r="r" b="b"/>
            <a:pathLst>
              <a:path w="6169814" h="5084364">
                <a:moveTo>
                  <a:pt x="0" y="0"/>
                </a:moveTo>
                <a:lnTo>
                  <a:pt x="6169813" y="0"/>
                </a:lnTo>
                <a:lnTo>
                  <a:pt x="6169813" y="5084364"/>
                </a:lnTo>
                <a:lnTo>
                  <a:pt x="0" y="50843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2601" b="-42966"/>
            </a:stretch>
          </a:blipFill>
        </p:spPr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018CB6-2ED3-4744-BD73-9D5B1C2EDFA6}"/>
              </a:ext>
            </a:extLst>
          </p:cNvPr>
          <p:cNvSpPr txBox="1"/>
          <p:nvPr/>
        </p:nvSpPr>
        <p:spPr>
          <a:xfrm>
            <a:off x="6016397" y="3520886"/>
            <a:ext cx="2716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2026.06.17</a:t>
            </a:r>
            <a:r>
              <a:rPr lang="ko-KR" altLang="en-US" b="1" dirty="0"/>
              <a:t>의 </a:t>
            </a:r>
            <a:r>
              <a:rPr lang="en-US" altLang="ko-KR" b="1" dirty="0"/>
              <a:t>12~18 </a:t>
            </a:r>
            <a:r>
              <a:rPr lang="ko-KR" altLang="en-US" b="1" dirty="0"/>
              <a:t>시의 </a:t>
            </a:r>
            <a:r>
              <a:rPr lang="en-US" altLang="ko-KR" b="1" dirty="0"/>
              <a:t>A </a:t>
            </a:r>
            <a:r>
              <a:rPr lang="ko-KR" altLang="en-US" b="1" dirty="0"/>
              <a:t>물건의 판매량 예측</a:t>
            </a:r>
          </a:p>
        </p:txBody>
      </p:sp>
    </p:spTree>
    <p:extLst>
      <p:ext uri="{BB962C8B-B14F-4D97-AF65-F5344CB8AC3E}">
        <p14:creationId xmlns:p14="http://schemas.microsoft.com/office/powerpoint/2010/main" val="18105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05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예측 알고리즘</a:t>
            </a:r>
            <a:endParaRPr lang="en-US" altLang="ko-KR" sz="1100" b="1" kern="0" spc="300" dirty="0">
              <a:solidFill>
                <a:srgbClr val="028090"/>
              </a:solidFill>
              <a:latin typeface="맑은 고딕" panose="020B0503020000020004" pitchFamily="50" charset="-127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2" name="Freeform 10">
            <a:extLst>
              <a:ext uri="{FF2B5EF4-FFF2-40B4-BE49-F238E27FC236}">
                <a16:creationId xmlns:a16="http://schemas.microsoft.com/office/drawing/2014/main" id="{CF08405D-D4A4-4B9B-B3F3-FC43DFC27D0C}"/>
              </a:ext>
            </a:extLst>
          </p:cNvPr>
          <p:cNvSpPr/>
          <p:nvPr/>
        </p:nvSpPr>
        <p:spPr>
          <a:xfrm>
            <a:off x="629129" y="807389"/>
            <a:ext cx="3039421" cy="2609820"/>
          </a:xfrm>
          <a:custGeom>
            <a:avLst/>
            <a:gdLst/>
            <a:ahLst/>
            <a:cxnLst/>
            <a:rect l="l" t="t" r="r" b="b"/>
            <a:pathLst>
              <a:path w="6169814" h="5084364">
                <a:moveTo>
                  <a:pt x="0" y="0"/>
                </a:moveTo>
                <a:lnTo>
                  <a:pt x="6169813" y="0"/>
                </a:lnTo>
                <a:lnTo>
                  <a:pt x="6169813" y="5084364"/>
                </a:lnTo>
                <a:lnTo>
                  <a:pt x="0" y="5084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601" b="-42966"/>
            </a:stretch>
          </a:blipFill>
        </p:spPr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018CB6-2ED3-4744-BD73-9D5B1C2EDFA6}"/>
              </a:ext>
            </a:extLst>
          </p:cNvPr>
          <p:cNvSpPr txBox="1"/>
          <p:nvPr/>
        </p:nvSpPr>
        <p:spPr>
          <a:xfrm>
            <a:off x="4117398" y="906379"/>
            <a:ext cx="431540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2026.06.17</a:t>
            </a:r>
            <a:r>
              <a:rPr lang="ko-KR" altLang="en-US" b="1" dirty="0"/>
              <a:t>의 </a:t>
            </a:r>
            <a:r>
              <a:rPr lang="en-US" altLang="ko-KR" b="1" dirty="0"/>
              <a:t>12:00~18:00 </a:t>
            </a:r>
            <a:r>
              <a:rPr lang="ko-KR" altLang="en-US" b="1" dirty="0"/>
              <a:t>예상 판매량</a:t>
            </a:r>
            <a:r>
              <a:rPr lang="en-US" altLang="ko-KR" b="1" dirty="0"/>
              <a:t> </a:t>
            </a:r>
          </a:p>
          <a:p>
            <a:endParaRPr lang="en-US" altLang="ko-KR" b="1" dirty="0"/>
          </a:p>
          <a:p>
            <a:r>
              <a:rPr lang="ko-KR" altLang="en-US" sz="1400" b="1" dirty="0"/>
              <a:t>총예상 판매량 </a:t>
            </a:r>
            <a:r>
              <a:rPr lang="en-US" altLang="ko-KR" sz="1400" b="1" dirty="0"/>
              <a:t>: 138</a:t>
            </a:r>
            <a:r>
              <a:rPr lang="ko-KR" altLang="en-US" sz="1400" b="1" dirty="0"/>
              <a:t>개</a:t>
            </a:r>
            <a:endParaRPr lang="en-US" altLang="ko-KR" sz="1400" b="1" dirty="0"/>
          </a:p>
          <a:p>
            <a:endParaRPr lang="en-US" altLang="ko-KR" sz="1400" b="1" dirty="0"/>
          </a:p>
          <a:p>
            <a:r>
              <a:rPr lang="en-US" altLang="ko-KR" sz="1400" b="1" dirty="0"/>
              <a:t>Confidence Level : </a:t>
            </a:r>
            <a:r>
              <a:rPr lang="ko-KR" altLang="en-US" sz="1400" b="1" dirty="0"/>
              <a:t>얼마나 </a:t>
            </a:r>
            <a:r>
              <a:rPr lang="ko-KR" altLang="en-US" sz="1400" b="1" dirty="0" err="1"/>
              <a:t>믿을만한</a:t>
            </a:r>
            <a:r>
              <a:rPr lang="ko-KR" altLang="en-US" sz="1400" b="1" dirty="0"/>
              <a:t> 정보인가</a:t>
            </a:r>
            <a:endParaRPr lang="en-US" altLang="ko-KR" sz="1400" b="1" dirty="0"/>
          </a:p>
          <a:p>
            <a:r>
              <a:rPr lang="en-US" altLang="ko-KR" sz="1400" b="1" dirty="0"/>
              <a:t>(CF 0~3)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r>
              <a:rPr lang="en-US" altLang="ko-KR" sz="1400" b="1" dirty="0"/>
              <a:t>CF0</a:t>
            </a:r>
            <a:r>
              <a:rPr lang="en-US" altLang="ko-KR" sz="1400" dirty="0"/>
              <a:t> : </a:t>
            </a:r>
            <a:r>
              <a:rPr lang="ko-KR" altLang="en-US" sz="1400" dirty="0"/>
              <a:t>거의 믿지 못함</a:t>
            </a:r>
            <a:endParaRPr lang="en-US" altLang="ko-KR" sz="1400" dirty="0"/>
          </a:p>
          <a:p>
            <a:r>
              <a:rPr lang="en-US" altLang="ko-KR" sz="1400" b="1" dirty="0"/>
              <a:t>CF1</a:t>
            </a:r>
            <a:r>
              <a:rPr lang="en-US" altLang="ko-KR" sz="1400" dirty="0"/>
              <a:t> : </a:t>
            </a:r>
            <a:r>
              <a:rPr lang="ko-KR" altLang="en-US" sz="1400" dirty="0"/>
              <a:t>일부 참고만 </a:t>
            </a:r>
            <a:r>
              <a:rPr lang="ko-KR" altLang="en-US" sz="1400" dirty="0" err="1"/>
              <a:t>할것</a:t>
            </a:r>
            <a:br>
              <a:rPr lang="en-US" altLang="ko-KR" sz="1400" dirty="0"/>
            </a:br>
            <a:r>
              <a:rPr lang="en-US" altLang="ko-KR" sz="1400" b="1" dirty="0"/>
              <a:t>CF2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신뢰성 있음</a:t>
            </a:r>
            <a:endParaRPr lang="en-US" altLang="ko-KR" sz="1400" dirty="0"/>
          </a:p>
          <a:p>
            <a:r>
              <a:rPr lang="en-US" altLang="ko-KR" sz="1400" b="1" dirty="0"/>
              <a:t>CF3</a:t>
            </a:r>
            <a:r>
              <a:rPr lang="en-US" altLang="ko-KR" sz="1400" dirty="0"/>
              <a:t> : </a:t>
            </a:r>
            <a:r>
              <a:rPr lang="ko-KR" altLang="en-US" sz="1400" dirty="0"/>
              <a:t>온전히 믿어도 됨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USE000 : </a:t>
            </a:r>
            <a:r>
              <a:rPr lang="ko-KR" altLang="en-US" sz="1400" dirty="0"/>
              <a:t>사용된 정보의 개수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3F7AF-7ACF-44DA-BB7A-B11B4F86499C}"/>
              </a:ext>
            </a:extLst>
          </p:cNvPr>
          <p:cNvSpPr txBox="1"/>
          <p:nvPr/>
        </p:nvSpPr>
        <p:spPr>
          <a:xfrm>
            <a:off x="1109133" y="3879642"/>
            <a:ext cx="573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정보를 사용자가 직접 얼마나 믿을지 판단할 수 있음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7544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03  시스템 구조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블록 다이어그램</a:t>
            </a:r>
            <a:endParaRPr lang="en-US" sz="2800" dirty="0">
              <a:latin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243584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243584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09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센서 값</a:t>
            </a:r>
            <a:r>
              <a:rPr lang="en-US" sz="105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감지</a:t>
            </a:r>
            <a:endParaRPr lang="en-US" sz="1050" dirty="0">
              <a:latin typeface="맑은 고딕" panose="020B050302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5196" y="1964436"/>
            <a:ext cx="1033272" cy="283464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온습도</a:t>
            </a:r>
            <a:r>
              <a:rPr lang="en-US" altLang="ko-KR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센서</a:t>
            </a:r>
            <a:endParaRPr lang="en-US" altLang="ko-KR" sz="1000" dirty="0">
              <a:latin typeface="맑은 고딕" panose="020B050302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67712" y="1371600"/>
            <a:ext cx="20116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67712" y="1371600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13432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마이크로프로세서</a:t>
            </a:r>
            <a:endParaRPr lang="en-US" sz="1050" dirty="0">
              <a:latin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내부 연산</a:t>
            </a:r>
            <a:endParaRPr lang="en-US" sz="1050" dirty="0">
              <a:latin typeface="맑은 고딕" panose="020B0503020000020004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377440" y="2011680"/>
            <a:ext cx="1792224" cy="420624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04872" y="20116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377440" y="2523744"/>
            <a:ext cx="1792224" cy="420624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4872" y="25237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유사도 계산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377440" y="3035808"/>
            <a:ext cx="1792224" cy="420624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04872" y="30358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가중 평균 예측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59810" y="3089513"/>
            <a:ext cx="1453896" cy="15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84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59810" y="3075432"/>
            <a:ext cx="1453896" cy="425196"/>
          </a:xfrm>
          <a:prstGeom prst="rect">
            <a:avLst/>
          </a:prstGeom>
          <a:solidFill>
            <a:srgbClr val="F5844C"/>
          </a:solidFill>
          <a:ln w="12700">
            <a:solidFill>
              <a:srgbClr val="F5844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5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③ SD </a:t>
            </a:r>
            <a:r>
              <a:rPr lang="en-US" altLang="ko-KR" sz="1050" b="1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카드</a:t>
            </a:r>
            <a:endParaRPr lang="en-US" altLang="ko-KR" sz="1050" dirty="0">
              <a:latin typeface="맑은 고딕" panose="020B0503020000020004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69538" y="3637788"/>
            <a:ext cx="1245616" cy="387096"/>
          </a:xfrm>
          <a:prstGeom prst="rect">
            <a:avLst/>
          </a:prstGeom>
          <a:solidFill>
            <a:srgbClr val="F5844C">
              <a:alpha val="12000"/>
            </a:srgbClr>
          </a:solidFill>
          <a:ln w="12700">
            <a:solidFill>
              <a:srgbClr val="F5844C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6970" y="3637788"/>
            <a:ext cx="1218184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bin 포맷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669538" y="4149852"/>
            <a:ext cx="1245616" cy="387096"/>
          </a:xfrm>
          <a:prstGeom prst="rect">
            <a:avLst/>
          </a:prstGeom>
          <a:solidFill>
            <a:srgbClr val="F5844C">
              <a:alpha val="12000"/>
            </a:srgbClr>
          </a:solidFill>
          <a:ln w="12700">
            <a:solidFill>
              <a:srgbClr val="F5844C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9538" y="4149852"/>
            <a:ext cx="127304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시간대별 판매 기록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45936" y="1463405"/>
            <a:ext cx="1947672" cy="1612027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7112" y="1371600"/>
            <a:ext cx="1936496" cy="5928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1371600"/>
            <a:ext cx="1947672" cy="592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출력</a:t>
            </a:r>
            <a:endParaRPr lang="en-US" sz="1050" dirty="0">
              <a:latin typeface="맑은 고딕" panose="020B0503020000020004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437376" y="2011680"/>
            <a:ext cx="1792224" cy="420624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4808" y="20116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LCD 예측값 표시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409944" y="2520696"/>
            <a:ext cx="1792224" cy="420624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25206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모드별 UI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2A2B0037-555B-405A-AF01-8578654FE981}"/>
              </a:ext>
            </a:extLst>
          </p:cNvPr>
          <p:cNvSpPr/>
          <p:nvPr/>
        </p:nvSpPr>
        <p:spPr>
          <a:xfrm>
            <a:off x="425196" y="2334768"/>
            <a:ext cx="1035304" cy="283464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바닥온도</a:t>
            </a:r>
            <a:r>
              <a:rPr lang="en-US" altLang="ko-KR" sz="1000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센서</a:t>
            </a:r>
            <a:endParaRPr lang="en-US" altLang="ko-KR" sz="1000" dirty="0">
              <a:latin typeface="맑은 고딕" panose="020B0503020000020004" pitchFamily="50" charset="-127"/>
            </a:endParaRPr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2DB240B3-CD9F-4176-8A0A-EC737E6C3704}"/>
              </a:ext>
            </a:extLst>
          </p:cNvPr>
          <p:cNvSpPr/>
          <p:nvPr/>
        </p:nvSpPr>
        <p:spPr>
          <a:xfrm>
            <a:off x="1780032" y="2694432"/>
            <a:ext cx="350520" cy="246888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A65A544A-0604-4FFA-9A2D-F83412768CDB}"/>
              </a:ext>
            </a:extLst>
          </p:cNvPr>
          <p:cNvSpPr/>
          <p:nvPr/>
        </p:nvSpPr>
        <p:spPr>
          <a:xfrm>
            <a:off x="425196" y="2705100"/>
            <a:ext cx="1035304" cy="283464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</a:rPr>
              <a:t>조도센서</a:t>
            </a:r>
            <a:endParaRPr lang="en-US" altLang="ko-KR" sz="1000" dirty="0">
              <a:latin typeface="맑은 고딕" panose="020B0503020000020004" pitchFamily="50" charset="-127"/>
            </a:endParaRPr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134EC495-79CA-434A-93CE-E1695775D3EA}"/>
              </a:ext>
            </a:extLst>
          </p:cNvPr>
          <p:cNvSpPr/>
          <p:nvPr/>
        </p:nvSpPr>
        <p:spPr>
          <a:xfrm>
            <a:off x="425196" y="3075432"/>
            <a:ext cx="1035304" cy="283464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</a:rPr>
              <a:t>RTC</a:t>
            </a:r>
            <a:r>
              <a:rPr lang="ko-KR" altLang="en-US" sz="1000" dirty="0">
                <a:latin typeface="맑은 고딕" panose="020B0503020000020004" pitchFamily="50" charset="-127"/>
              </a:rPr>
              <a:t> 모듈</a:t>
            </a:r>
            <a:endParaRPr lang="en-US" altLang="ko-KR" sz="1000" dirty="0">
              <a:latin typeface="맑은 고딕" panose="020B0503020000020004" pitchFamily="50" charset="-127"/>
            </a:endParaRPr>
          </a:p>
        </p:txBody>
      </p:sp>
      <p:sp>
        <p:nvSpPr>
          <p:cNvPr id="58" name="화살표: 왼쪽/위쪽 57">
            <a:extLst>
              <a:ext uri="{FF2B5EF4-FFF2-40B4-BE49-F238E27FC236}">
                <a16:creationId xmlns:a16="http://schemas.microsoft.com/office/drawing/2014/main" id="{1D6246B5-6F09-4128-BCCA-36140AC47074}"/>
              </a:ext>
            </a:extLst>
          </p:cNvPr>
          <p:cNvSpPr/>
          <p:nvPr/>
        </p:nvSpPr>
        <p:spPr>
          <a:xfrm flipH="1">
            <a:off x="3639312" y="3678174"/>
            <a:ext cx="541020" cy="525780"/>
          </a:xfrm>
          <a:prstGeom prst="leftUp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77E18D3B-3301-4C58-B956-F8268D71914C}"/>
              </a:ext>
            </a:extLst>
          </p:cNvPr>
          <p:cNvSpPr/>
          <p:nvPr/>
        </p:nvSpPr>
        <p:spPr>
          <a:xfrm>
            <a:off x="4457954" y="1459992"/>
            <a:ext cx="1720596" cy="246888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77384E8F-3323-4D24-B0EC-690867BD6E27}"/>
              </a:ext>
            </a:extLst>
          </p:cNvPr>
          <p:cNvSpPr/>
          <p:nvPr/>
        </p:nvSpPr>
        <p:spPr>
          <a:xfrm>
            <a:off x="320040" y="3701794"/>
            <a:ext cx="1243584" cy="11658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F8CFB97A-3DB4-4CF7-9ECB-A1C5544BE838}"/>
              </a:ext>
            </a:extLst>
          </p:cNvPr>
          <p:cNvSpPr/>
          <p:nvPr/>
        </p:nvSpPr>
        <p:spPr>
          <a:xfrm>
            <a:off x="320040" y="3715511"/>
            <a:ext cx="1243584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75DF784F-505E-4D52-BCF7-2E8D3DC50234}"/>
              </a:ext>
            </a:extLst>
          </p:cNvPr>
          <p:cNvSpPr/>
          <p:nvPr/>
        </p:nvSpPr>
        <p:spPr>
          <a:xfrm>
            <a:off x="365760" y="3715511"/>
            <a:ext cx="109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외부 기기 정보</a:t>
            </a:r>
            <a:endParaRPr lang="en-US" sz="1050" dirty="0">
              <a:latin typeface="맑은 고딕" panose="020B0503020000020004" pitchFamily="50" charset="-127"/>
            </a:endParaRPr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FD5E2301-2536-4378-9C56-A74C4FBA2560}"/>
              </a:ext>
            </a:extLst>
          </p:cNvPr>
          <p:cNvSpPr/>
          <p:nvPr/>
        </p:nvSpPr>
        <p:spPr>
          <a:xfrm>
            <a:off x="397764" y="4324349"/>
            <a:ext cx="1099312" cy="431292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</a:rPr>
              <a:t>메뉴버튼</a:t>
            </a:r>
            <a:r>
              <a:rPr lang="en-US" altLang="ko-KR" sz="1000" dirty="0">
                <a:latin typeface="맑은 고딕" panose="020B0503020000020004" pitchFamily="50" charset="-127"/>
              </a:rPr>
              <a:t> </a:t>
            </a:r>
            <a:r>
              <a:rPr lang="ko-KR" altLang="en-US" sz="1000" dirty="0" err="1">
                <a:latin typeface="맑은 고딕" panose="020B0503020000020004" pitchFamily="50" charset="-127"/>
              </a:rPr>
              <a:t>키패드</a:t>
            </a:r>
            <a:endParaRPr lang="en-US" altLang="ko-KR" sz="1000" dirty="0">
              <a:latin typeface="맑은 고딕" panose="020B0503020000020004" pitchFamily="50" charset="-127"/>
            </a:endParaRPr>
          </a:p>
        </p:txBody>
      </p:sp>
      <p:sp>
        <p:nvSpPr>
          <p:cNvPr id="66" name="더하기 기호 65">
            <a:extLst>
              <a:ext uri="{FF2B5EF4-FFF2-40B4-BE49-F238E27FC236}">
                <a16:creationId xmlns:a16="http://schemas.microsoft.com/office/drawing/2014/main" id="{7A7812EF-9C3A-4386-89EE-4AB7657DA624}"/>
              </a:ext>
            </a:extLst>
          </p:cNvPr>
          <p:cNvSpPr/>
          <p:nvPr/>
        </p:nvSpPr>
        <p:spPr>
          <a:xfrm>
            <a:off x="726948" y="3365752"/>
            <a:ext cx="502920" cy="502920"/>
          </a:xfrm>
          <a:prstGeom prst="mathPlus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04  데이터 수집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판매량은 어떻게 기록되는가?</a:t>
            </a:r>
            <a:endParaRPr lang="en-US" sz="2600" dirty="0">
              <a:latin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0690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🔄  자동 저장 모드 (버튼 입력)</a:t>
            </a:r>
            <a:endParaRPr lang="en-US" sz="1300" dirty="0">
              <a:latin typeface="맑은 고딕" panose="020B050302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993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메뉴 버튼(A/B/C) 누를 때마다 판매량 +1 누적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RTC로 시간대 감지 (1시간 단위)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32735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시간대 변경 시 센서값 + 판매량을 SD 카드에 저장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3913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저장 후 카운터 초기화 → 다음 시간대 시작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" y="4526280"/>
            <a:ext cx="384048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2026-05-18,14,1,2,0,12,7,4,28.5,61.2,27.9,720</a:t>
            </a:r>
            <a:endParaRPr lang="en-US" sz="850" dirty="0">
              <a:latin typeface="맑은 고딕" panose="020B050302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371600"/>
            <a:ext cx="4069080" cy="457200"/>
          </a:xfrm>
          <a:prstGeom prst="rect">
            <a:avLst/>
          </a:prstGeom>
          <a:solidFill>
            <a:srgbClr val="F5844C"/>
          </a:solidFill>
          <a:ln w="12700">
            <a:solidFill>
              <a:srgbClr val="F584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371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✏️  수동 입력 모드 (키패드)</a:t>
            </a:r>
            <a:endParaRPr lang="en-US" sz="1300" dirty="0">
              <a:latin typeface="맑은 고딕" panose="020B0503020000020004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6320" y="2011680"/>
            <a:ext cx="292608" cy="292608"/>
          </a:xfrm>
          <a:prstGeom prst="ellipse">
            <a:avLst/>
          </a:prstGeom>
          <a:solidFill>
            <a:srgbClr val="F5844C"/>
          </a:solidFill>
          <a:ln w="12700">
            <a:solidFill>
              <a:srgbClr val="F584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57800" y="1993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현금 거래 / 누락 판매량 보정 용도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2651760"/>
            <a:ext cx="292608" cy="292608"/>
          </a:xfrm>
          <a:prstGeom prst="ellipse">
            <a:avLst/>
          </a:prstGeom>
          <a:solidFill>
            <a:srgbClr val="F5844C"/>
          </a:solidFill>
          <a:ln w="12700">
            <a:solidFill>
              <a:srgbClr val="F584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57800" y="26334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키패드로 메뉴 선택 후 추가 수량 입력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46320" y="3291840"/>
            <a:ext cx="292608" cy="292608"/>
          </a:xfrm>
          <a:prstGeom prst="ellipse">
            <a:avLst/>
          </a:prstGeom>
          <a:solidFill>
            <a:srgbClr val="F5844C"/>
          </a:solidFill>
          <a:ln w="12700">
            <a:solidFill>
              <a:srgbClr val="F584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57800" y="32735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기존 자동 누적값에 더해서 기록 (덮어쓰기 ✗)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46320" y="3931920"/>
            <a:ext cx="292608" cy="292608"/>
          </a:xfrm>
          <a:prstGeom prst="ellipse">
            <a:avLst/>
          </a:prstGeom>
          <a:solidFill>
            <a:srgbClr val="F5844C"/>
          </a:solidFill>
          <a:ln w="12700">
            <a:solidFill>
              <a:srgbClr val="F584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en-US" sz="1000" dirty="0">
              <a:latin typeface="맑은 고딕" panose="020B0503020000020004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57800" y="3913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다음 자동 저장 시 함께 SD 카드에 기록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00600" y="4434840"/>
            <a:ext cx="3840480" cy="347472"/>
          </a:xfrm>
          <a:prstGeom prst="rect">
            <a:avLst/>
          </a:prstGeom>
          <a:solidFill>
            <a:srgbClr val="F5844C">
              <a:alpha val="15000"/>
            </a:srgbClr>
          </a:solidFill>
          <a:ln w="12700">
            <a:solidFill>
              <a:srgbClr val="F584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434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844C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예) 자동 12개 + 수동 2개 = 최종 14개 기록</a:t>
            </a:r>
            <a:endParaRPr lang="en-US" sz="1050" dirty="0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04  데이터 수집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판매량은 어떻게 기록되는가?</a:t>
            </a:r>
            <a:endParaRPr lang="en-US" sz="2600" dirty="0">
              <a:latin typeface="맑은 고딕" panose="020B050302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0690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🔄  자동 저장 모드 (버튼 입력)</a:t>
            </a:r>
            <a:endParaRPr lang="en-US" sz="1300" dirty="0">
              <a:latin typeface="맑은 고딕" panose="020B0503020000020004" pitchFamily="50" charset="-127"/>
            </a:endParaRPr>
          </a:p>
        </p:txBody>
      </p:sp>
      <p:sp>
        <p:nvSpPr>
          <p:cNvPr id="50" name="Freeform 12">
            <a:extLst>
              <a:ext uri="{FF2B5EF4-FFF2-40B4-BE49-F238E27FC236}">
                <a16:creationId xmlns:a16="http://schemas.microsoft.com/office/drawing/2014/main" id="{F6235973-7DD9-4FFD-9528-4DFCF0C9DA8C}"/>
              </a:ext>
            </a:extLst>
          </p:cNvPr>
          <p:cNvSpPr/>
          <p:nvPr/>
        </p:nvSpPr>
        <p:spPr>
          <a:xfrm>
            <a:off x="3356576" y="1952950"/>
            <a:ext cx="2434623" cy="2869806"/>
          </a:xfrm>
          <a:custGeom>
            <a:avLst/>
            <a:gdLst/>
            <a:ahLst/>
            <a:cxnLst/>
            <a:rect l="l" t="t" r="r" b="b"/>
            <a:pathLst>
              <a:path w="4862376" h="5416378">
                <a:moveTo>
                  <a:pt x="0" y="0"/>
                </a:moveTo>
                <a:lnTo>
                  <a:pt x="4862376" y="0"/>
                </a:lnTo>
                <a:lnTo>
                  <a:pt x="4862376" y="5416377"/>
                </a:lnTo>
                <a:lnTo>
                  <a:pt x="0" y="5416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696" t="-57522" r="-70220" b="-39398"/>
            </a:stretch>
          </a:blipFill>
        </p:spPr>
      </p:sp>
      <p:sp>
        <p:nvSpPr>
          <p:cNvPr id="51" name="Freeform 8">
            <a:extLst>
              <a:ext uri="{FF2B5EF4-FFF2-40B4-BE49-F238E27FC236}">
                <a16:creationId xmlns:a16="http://schemas.microsoft.com/office/drawing/2014/main" id="{7D758A40-0835-42A0-B566-C39BAB5372C5}"/>
              </a:ext>
            </a:extLst>
          </p:cNvPr>
          <p:cNvSpPr/>
          <p:nvPr/>
        </p:nvSpPr>
        <p:spPr>
          <a:xfrm>
            <a:off x="2566283" y="3035200"/>
            <a:ext cx="670207" cy="457200"/>
          </a:xfrm>
          <a:custGeom>
            <a:avLst/>
            <a:gdLst/>
            <a:ahLst/>
            <a:cxnLst/>
            <a:rect l="l" t="t" r="r" b="b"/>
            <a:pathLst>
              <a:path w="1753059" h="1272429">
                <a:moveTo>
                  <a:pt x="0" y="0"/>
                </a:moveTo>
                <a:lnTo>
                  <a:pt x="1753059" y="0"/>
                </a:lnTo>
                <a:lnTo>
                  <a:pt x="1753059" y="1272429"/>
                </a:lnTo>
                <a:lnTo>
                  <a:pt x="0" y="1272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7FDD4FD-6E53-4B7F-A03B-FAAD58644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078621"/>
            <a:ext cx="2154803" cy="280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04  데이터 수집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판매량은 어떻게 기록되는가?</a:t>
            </a:r>
            <a:endParaRPr lang="en-US" sz="2600" dirty="0">
              <a:latin typeface="맑은 고딕" panose="020B050302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0690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🔄  자동 저장 모드 (버튼 입력)</a:t>
            </a:r>
            <a:endParaRPr lang="en-US" sz="1300" dirty="0">
              <a:latin typeface="맑은 고딕" panose="020B0503020000020004" pitchFamily="50" charset="-127"/>
            </a:endParaRPr>
          </a:p>
        </p:txBody>
      </p:sp>
      <p:sp>
        <p:nvSpPr>
          <p:cNvPr id="51" name="Freeform 8">
            <a:extLst>
              <a:ext uri="{FF2B5EF4-FFF2-40B4-BE49-F238E27FC236}">
                <a16:creationId xmlns:a16="http://schemas.microsoft.com/office/drawing/2014/main" id="{7D758A40-0835-42A0-B566-C39BAB5372C5}"/>
              </a:ext>
            </a:extLst>
          </p:cNvPr>
          <p:cNvSpPr/>
          <p:nvPr/>
        </p:nvSpPr>
        <p:spPr>
          <a:xfrm>
            <a:off x="2566283" y="3035200"/>
            <a:ext cx="670207" cy="457200"/>
          </a:xfrm>
          <a:custGeom>
            <a:avLst/>
            <a:gdLst/>
            <a:ahLst/>
            <a:cxnLst/>
            <a:rect l="l" t="t" r="r" b="b"/>
            <a:pathLst>
              <a:path w="1753059" h="1272429">
                <a:moveTo>
                  <a:pt x="0" y="0"/>
                </a:moveTo>
                <a:lnTo>
                  <a:pt x="1753059" y="0"/>
                </a:lnTo>
                <a:lnTo>
                  <a:pt x="1753059" y="1272429"/>
                </a:lnTo>
                <a:lnTo>
                  <a:pt x="0" y="1272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2" descr="주문 대기 기기와 파스텔 배경">
            <a:extLst>
              <a:ext uri="{FF2B5EF4-FFF2-40B4-BE49-F238E27FC236}">
                <a16:creationId xmlns:a16="http://schemas.microsoft.com/office/drawing/2014/main" id="{2C44B5EA-5191-49BB-B8AE-4A333A4EF6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9E5BE5-FF3C-40FE-AEB3-A1A9EDFCB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402" y="1988388"/>
            <a:ext cx="2567110" cy="28492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98A44F8-66D1-4F88-A918-E5F3437F8E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434" y="667512"/>
            <a:ext cx="2470086" cy="31442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C9E234-17FF-42EF-8255-2A9070BECEAF}"/>
              </a:ext>
            </a:extLst>
          </p:cNvPr>
          <p:cNvSpPr txBox="1"/>
          <p:nvPr/>
        </p:nvSpPr>
        <p:spPr>
          <a:xfrm>
            <a:off x="6211237" y="3988786"/>
            <a:ext cx="2661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ym typeface="Wingdings" panose="05000000000000000000" pitchFamily="2" charset="2"/>
              </a:rPr>
              <a:t>해당 시간대의 판매량을 </a:t>
            </a:r>
            <a:r>
              <a:rPr lang="en-US" altLang="ko-KR" sz="1200" dirty="0">
                <a:sym typeface="Wingdings" panose="05000000000000000000" pitchFamily="2" charset="2"/>
              </a:rPr>
              <a:t>SD</a:t>
            </a:r>
            <a:r>
              <a:rPr lang="ko-KR" altLang="en-US" sz="1200" dirty="0">
                <a:sym typeface="Wingdings" panose="05000000000000000000" pitchFamily="2" charset="2"/>
              </a:rPr>
              <a:t>카드에</a:t>
            </a:r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ko-KR" altLang="en-US" sz="1200" dirty="0">
                <a:sym typeface="Wingdings" panose="05000000000000000000" pitchFamily="2" charset="2"/>
              </a:rPr>
              <a:t>환경정보와 함께 저장</a:t>
            </a:r>
            <a:endParaRPr lang="ko-KR" alt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69B360A-8F3B-4DDE-ACE8-7928B04253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12" y="1988388"/>
            <a:ext cx="2101459" cy="28492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4CD40D6-EF77-402B-8485-3EB27A0A5358}"/>
              </a:ext>
            </a:extLst>
          </p:cNvPr>
          <p:cNvSpPr txBox="1"/>
          <p:nvPr/>
        </p:nvSpPr>
        <p:spPr>
          <a:xfrm>
            <a:off x="6262434" y="4469707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조도</a:t>
            </a:r>
            <a:r>
              <a:rPr lang="en-US" altLang="ko-KR" sz="1200" dirty="0"/>
              <a:t>, </a:t>
            </a:r>
            <a:r>
              <a:rPr lang="ko-KR" altLang="en-US" sz="1200" dirty="0"/>
              <a:t>습도</a:t>
            </a:r>
            <a:r>
              <a:rPr lang="en-US" altLang="ko-KR" sz="1200" dirty="0"/>
              <a:t>, </a:t>
            </a:r>
            <a:r>
              <a:rPr lang="ko-KR" altLang="en-US" sz="1200" dirty="0"/>
              <a:t>온도</a:t>
            </a:r>
            <a:r>
              <a:rPr lang="en-US" altLang="ko-KR" sz="1200" dirty="0"/>
              <a:t>, </a:t>
            </a:r>
            <a:r>
              <a:rPr lang="ko-KR" altLang="en-US" sz="1200" dirty="0"/>
              <a:t>시간 등등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727CE06-82CC-4C3A-80F7-52362BFB8D84}"/>
              </a:ext>
            </a:extLst>
          </p:cNvPr>
          <p:cNvCxnSpPr/>
          <p:nvPr/>
        </p:nvCxnSpPr>
        <p:spPr>
          <a:xfrm>
            <a:off x="6316980" y="4435582"/>
            <a:ext cx="594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268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04  데이터 수집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판매량은 어떻게 기록되는가?</a:t>
            </a:r>
            <a:endParaRPr lang="en-US" sz="2600" dirty="0">
              <a:latin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F89684-133B-4659-89E1-62D7D033B9C5}"/>
              </a:ext>
            </a:extLst>
          </p:cNvPr>
          <p:cNvSpPr txBox="1"/>
          <p:nvPr/>
        </p:nvSpPr>
        <p:spPr>
          <a:xfrm>
            <a:off x="3596640" y="4707081"/>
            <a:ext cx="608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CSV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파일로 변환한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실제 생성된 향후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년치의 데이터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6A0BF6E-3AC1-4F14-8CEB-63DDB3346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44" y="1352958"/>
            <a:ext cx="2401880" cy="3092889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552C17B-E7F7-4866-B25D-ABA6657D1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543" y="1736681"/>
            <a:ext cx="4543213" cy="2026752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A74B899-C4EF-4BAB-9941-A7869521275A}"/>
              </a:ext>
            </a:extLst>
          </p:cNvPr>
          <p:cNvSpPr/>
          <p:nvPr/>
        </p:nvSpPr>
        <p:spPr>
          <a:xfrm>
            <a:off x="3298613" y="2512907"/>
            <a:ext cx="298027" cy="338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754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04  데이터 수집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판매량은 어떻게 기록되는가?</a:t>
            </a:r>
            <a:endParaRPr lang="en-US" sz="2600" dirty="0">
              <a:latin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7833DE-FAF6-4FBA-B917-6896E2CBA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22"/>
            <a:ext cx="7430347" cy="3314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3F89684-133B-4659-89E1-62D7D033B9C5}"/>
              </a:ext>
            </a:extLst>
          </p:cNvPr>
          <p:cNvSpPr txBox="1"/>
          <p:nvPr/>
        </p:nvSpPr>
        <p:spPr>
          <a:xfrm>
            <a:off x="3596640" y="4707081"/>
            <a:ext cx="608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CSV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파일로 변환한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실제 데이터</a:t>
            </a:r>
          </a:p>
        </p:txBody>
      </p:sp>
    </p:spTree>
    <p:extLst>
      <p:ext uri="{BB962C8B-B14F-4D97-AF65-F5344CB8AC3E}">
        <p14:creationId xmlns:p14="http://schemas.microsoft.com/office/powerpoint/2010/main" val="774501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05  SD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카드 데이터 구조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SD</a:t>
            </a:r>
            <a:r>
              <a:rPr lang="ko-KR" altLang="en-US" sz="26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카드 정보 저장 방식</a:t>
            </a:r>
            <a:endParaRPr lang="en-US" sz="2600" dirty="0">
              <a:latin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F89684-133B-4659-89E1-62D7D033B9C5}"/>
              </a:ext>
            </a:extLst>
          </p:cNvPr>
          <p:cNvSpPr txBox="1"/>
          <p:nvPr/>
        </p:nvSpPr>
        <p:spPr>
          <a:xfrm>
            <a:off x="3596640" y="4707081"/>
            <a:ext cx="608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CSV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파일로 변환한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실제 데이터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0464CF-0D6B-4635-9F53-909452945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68" y="1734851"/>
            <a:ext cx="4964681" cy="130477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1CB35B1-BD2E-4B10-8545-28C7B5055233}"/>
              </a:ext>
            </a:extLst>
          </p:cNvPr>
          <p:cNvSpPr/>
          <p:nvPr/>
        </p:nvSpPr>
        <p:spPr>
          <a:xfrm>
            <a:off x="594468" y="1251823"/>
            <a:ext cx="26516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하드웨어 제약 기반 설계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578DB79-9F1F-4494-88A6-41D22CEAC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029" y="1436316"/>
            <a:ext cx="3254022" cy="214140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36EFD92-F8DE-4219-9508-56750771BA90}"/>
              </a:ext>
            </a:extLst>
          </p:cNvPr>
          <p:cNvSpPr/>
          <p:nvPr/>
        </p:nvSpPr>
        <p:spPr>
          <a:xfrm>
            <a:off x="5326380" y="2468899"/>
            <a:ext cx="1798320" cy="2057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BC9E8E-6E85-4E20-B8B8-3B8AF5599B24}"/>
              </a:ext>
            </a:extLst>
          </p:cNvPr>
          <p:cNvSpPr txBox="1"/>
          <p:nvPr/>
        </p:nvSpPr>
        <p:spPr>
          <a:xfrm>
            <a:off x="5391150" y="3691418"/>
            <a:ext cx="3254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u="sng" dirty="0"/>
              <a:t>Arduino® Mega 2560 Rev3 - </a:t>
            </a:r>
            <a:r>
              <a:rPr lang="en-US" altLang="ko-KR" sz="1400" dirty="0"/>
              <a:t>datasheet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13138-179D-4DBD-A9A5-3D8DE97E9E9F}"/>
              </a:ext>
            </a:extLst>
          </p:cNvPr>
          <p:cNvSpPr txBox="1"/>
          <p:nvPr/>
        </p:nvSpPr>
        <p:spPr>
          <a:xfrm>
            <a:off x="498828" y="3338164"/>
            <a:ext cx="41864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정보를 누적하는 형태의 제품 </a:t>
            </a:r>
            <a:r>
              <a:rPr lang="en-US" altLang="ko-KR" sz="1400" dirty="0"/>
              <a:t>– </a:t>
            </a:r>
            <a:r>
              <a:rPr lang="ko-KR" altLang="en-US" sz="1400" dirty="0"/>
              <a:t>몇 년이 될지도 모름</a:t>
            </a:r>
            <a:endParaRPr lang="en-US" altLang="ko-KR" sz="1400" dirty="0"/>
          </a:p>
          <a:p>
            <a:r>
              <a:rPr lang="en-US" altLang="ko-KR" sz="1400" dirty="0"/>
              <a:t>+ </a:t>
            </a:r>
            <a:r>
              <a:rPr lang="ko-KR" altLang="en-US" sz="1400" dirty="0" err="1"/>
              <a:t>아두이노의</a:t>
            </a:r>
            <a:r>
              <a:rPr lang="ko-KR" altLang="en-US" sz="1400" dirty="0"/>
              <a:t> </a:t>
            </a:r>
            <a:r>
              <a:rPr lang="en-US" altLang="ko-KR" sz="1400" dirty="0"/>
              <a:t>8KB SRAM </a:t>
            </a:r>
            <a:r>
              <a:rPr lang="ko-KR" altLang="en-US" sz="1400" dirty="0"/>
              <a:t>제한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bin </a:t>
            </a:r>
            <a:r>
              <a:rPr lang="ko-KR" altLang="en-US" dirty="0"/>
              <a:t>형태 파일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F3543-A8E7-45D0-BA33-7D143809E6D5}"/>
              </a:ext>
            </a:extLst>
          </p:cNvPr>
          <p:cNvSpPr txBox="1"/>
          <p:nvPr/>
        </p:nvSpPr>
        <p:spPr>
          <a:xfrm>
            <a:off x="498828" y="4045361"/>
            <a:ext cx="3180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</a:rPr>
              <a:t>정보를 읽고</a:t>
            </a:r>
            <a:r>
              <a:rPr lang="en-US" altLang="ko-KR" sz="1400" dirty="0">
                <a:solidFill>
                  <a:srgbClr val="0070C0"/>
                </a:solidFill>
              </a:rPr>
              <a:t>,</a:t>
            </a:r>
            <a:r>
              <a:rPr lang="ko-KR" altLang="en-US" sz="1400" dirty="0">
                <a:solidFill>
                  <a:srgbClr val="0070C0"/>
                </a:solidFill>
              </a:rPr>
              <a:t> 쓰고 </a:t>
            </a:r>
            <a:r>
              <a:rPr lang="ko-KR" altLang="en-US" sz="1400" dirty="0" err="1">
                <a:solidFill>
                  <a:srgbClr val="0070C0"/>
                </a:solidFill>
              </a:rPr>
              <a:t>저장하는데에</a:t>
            </a:r>
            <a:r>
              <a:rPr lang="ko-KR" altLang="en-US" sz="1400" dirty="0">
                <a:solidFill>
                  <a:srgbClr val="0070C0"/>
                </a:solidFill>
              </a:rPr>
              <a:t> 유리</a:t>
            </a:r>
            <a:r>
              <a:rPr lang="en-US" altLang="ko-KR" sz="1400" dirty="0">
                <a:solidFill>
                  <a:srgbClr val="0070C0"/>
                </a:solidFill>
              </a:rPr>
              <a:t>! 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720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06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 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34AC52F-1632-4E62-95C9-82FB2E0E704E}"/>
              </a:ext>
            </a:extLst>
          </p:cNvPr>
          <p:cNvSpPr/>
          <p:nvPr/>
        </p:nvSpPr>
        <p:spPr>
          <a:xfrm>
            <a:off x="320040" y="594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CDDFC8-E0F2-49BF-924E-4CA498E18239}"/>
              </a:ext>
            </a:extLst>
          </p:cNvPr>
          <p:cNvSpPr/>
          <p:nvPr/>
        </p:nvSpPr>
        <p:spPr>
          <a:xfrm>
            <a:off x="308610" y="1130589"/>
            <a:ext cx="82524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Q. </a:t>
            </a:r>
            <a:r>
              <a:rPr lang="ko-KR" altLang="en-US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데이터가 적은 초기 매장의 경우 판매 기록이 없거나 실시간 데이터가 적게 쌓여 예측이 힘들어지는 것이 아닌가</a:t>
            </a:r>
            <a:r>
              <a:rPr lang="en-US" altLang="ko-KR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?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9BA60D-30BF-41AF-BA89-61DFC717D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75" y="2492418"/>
            <a:ext cx="2336231" cy="1891233"/>
          </a:xfrm>
          <a:prstGeom prst="rect">
            <a:avLst/>
          </a:prstGeom>
        </p:spPr>
      </p:pic>
      <p:sp>
        <p:nvSpPr>
          <p:cNvPr id="30" name="곱하기 기호 29">
            <a:extLst>
              <a:ext uri="{FF2B5EF4-FFF2-40B4-BE49-F238E27FC236}">
                <a16:creationId xmlns:a16="http://schemas.microsoft.com/office/drawing/2014/main" id="{AEB46176-B9F1-46D2-A402-B58997C1FB67}"/>
              </a:ext>
            </a:extLst>
          </p:cNvPr>
          <p:cNvSpPr/>
          <p:nvPr/>
        </p:nvSpPr>
        <p:spPr>
          <a:xfrm>
            <a:off x="-50021" y="1670195"/>
            <a:ext cx="4443307" cy="3535680"/>
          </a:xfrm>
          <a:prstGeom prst="mathMultiply">
            <a:avLst>
              <a:gd name="adj1" fmla="val 3480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CF5C5ADE-E1F7-4EA9-A727-B66FE7E74BE0}"/>
              </a:ext>
            </a:extLst>
          </p:cNvPr>
          <p:cNvSpPr txBox="1"/>
          <p:nvPr/>
        </p:nvSpPr>
        <p:spPr>
          <a:xfrm>
            <a:off x="734111" y="8222674"/>
            <a:ext cx="10668180" cy="167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없으면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시간대에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A, B, C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얼마나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팔릴지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참고할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기준이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때문에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예측을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어려운건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사실이다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.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B4722AC-8024-4561-8462-6F137D599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008" y="2367726"/>
            <a:ext cx="2435117" cy="1891233"/>
          </a:xfrm>
          <a:prstGeom prst="rect">
            <a:avLst/>
          </a:prstGeom>
        </p:spPr>
      </p:pic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CFCDA51B-F4C2-4AC3-86CF-DDD020B2E526}"/>
              </a:ext>
            </a:extLst>
          </p:cNvPr>
          <p:cNvSpPr/>
          <p:nvPr/>
        </p:nvSpPr>
        <p:spPr>
          <a:xfrm>
            <a:off x="4107873" y="3068708"/>
            <a:ext cx="928254" cy="5957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9CEE7-D6B4-4D16-8299-297ADE2DD5EC}"/>
              </a:ext>
            </a:extLst>
          </p:cNvPr>
          <p:cNvSpPr txBox="1"/>
          <p:nvPr/>
        </p:nvSpPr>
        <p:spPr>
          <a:xfrm>
            <a:off x="7575319" y="1899594"/>
            <a:ext cx="1971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002060"/>
                </a:solidFill>
              </a:rPr>
              <a:t>!!!!</a:t>
            </a:r>
            <a:endParaRPr lang="ko-KR" alt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091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06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 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34AC52F-1632-4E62-95C9-82FB2E0E704E}"/>
              </a:ext>
            </a:extLst>
          </p:cNvPr>
          <p:cNvSpPr/>
          <p:nvPr/>
        </p:nvSpPr>
        <p:spPr>
          <a:xfrm>
            <a:off x="320040" y="594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CF5C5ADE-E1F7-4EA9-A727-B66FE7E74BE0}"/>
              </a:ext>
            </a:extLst>
          </p:cNvPr>
          <p:cNvSpPr txBox="1"/>
          <p:nvPr/>
        </p:nvSpPr>
        <p:spPr>
          <a:xfrm>
            <a:off x="734111" y="8222674"/>
            <a:ext cx="10668180" cy="167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없으면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시간대에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A, B, C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얼마나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팔릴지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참고할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기준이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때문에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예측을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어려운건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사실이다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D6E4F-FC44-41C4-9734-48BA460358AA}"/>
              </a:ext>
            </a:extLst>
          </p:cNvPr>
          <p:cNvSpPr txBox="1"/>
          <p:nvPr/>
        </p:nvSpPr>
        <p:spPr>
          <a:xfrm>
            <a:off x="610985" y="1104398"/>
            <a:ext cx="863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초기 데이터를 만들자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88650-6F4C-4880-AA63-980CA2030484}"/>
              </a:ext>
            </a:extLst>
          </p:cNvPr>
          <p:cNvSpPr txBox="1"/>
          <p:nvPr/>
        </p:nvSpPr>
        <p:spPr>
          <a:xfrm>
            <a:off x="873605" y="1481027"/>
            <a:ext cx="57370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1.</a:t>
            </a:r>
            <a:r>
              <a:rPr lang="en-US" altLang="ko-KR" dirty="0"/>
              <a:t> 3</a:t>
            </a:r>
            <a:r>
              <a:rPr lang="ko-KR" altLang="en-US" dirty="0"/>
              <a:t>일치의 데이터 수집</a:t>
            </a:r>
            <a:endParaRPr lang="en-US" altLang="ko-KR" dirty="0"/>
          </a:p>
          <a:p>
            <a:pPr marL="800100" lvl="1" indent="-342900">
              <a:buAutoNum type="arabicPeriod"/>
            </a:pP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324321-42C9-4A3E-B2EC-12E1E9373DF7}"/>
              </a:ext>
            </a:extLst>
          </p:cNvPr>
          <p:cNvSpPr txBox="1"/>
          <p:nvPr/>
        </p:nvSpPr>
        <p:spPr>
          <a:xfrm>
            <a:off x="1269076" y="1910423"/>
            <a:ext cx="8631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일동안 키오스크 등에서 입력된 정보를 저장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62DD3-4F16-403C-BBB5-42E72AA58EC1}"/>
              </a:ext>
            </a:extLst>
          </p:cNvPr>
          <p:cNvSpPr txBox="1"/>
          <p:nvPr/>
        </p:nvSpPr>
        <p:spPr>
          <a:xfrm>
            <a:off x="873605" y="2280443"/>
            <a:ext cx="463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dirty="0"/>
              <a:t>데이터 수집 후 최초 </a:t>
            </a:r>
            <a:r>
              <a:rPr lang="en-US" altLang="ko-KR" dirty="0"/>
              <a:t>1</a:t>
            </a:r>
            <a:r>
              <a:rPr lang="ko-KR" altLang="en-US" dirty="0"/>
              <a:t>년치의 데이터 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344277-3F04-4D27-B8CB-D6801C95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01" y="1602232"/>
            <a:ext cx="2270957" cy="28729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1D6D40-0126-4B8C-8452-1B19FD627281}"/>
              </a:ext>
            </a:extLst>
          </p:cNvPr>
          <p:cNvSpPr txBox="1"/>
          <p:nvPr/>
        </p:nvSpPr>
        <p:spPr>
          <a:xfrm>
            <a:off x="1269075" y="2742029"/>
            <a:ext cx="8631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일치 데이터를 기준점으로 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그 업종만의 가중치를 대입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1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년치 데이터 생성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E24B3-9908-4814-AA0B-4C827EA73B5A}"/>
              </a:ext>
            </a:extLst>
          </p:cNvPr>
          <p:cNvSpPr txBox="1"/>
          <p:nvPr/>
        </p:nvSpPr>
        <p:spPr>
          <a:xfrm>
            <a:off x="5875131" y="4567475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생성 시간 약 </a:t>
            </a:r>
            <a:r>
              <a:rPr lang="en-US" altLang="ko-KR" dirty="0"/>
              <a:t>15</a:t>
            </a:r>
            <a:r>
              <a:rPr lang="ko-KR" altLang="en-US" dirty="0"/>
              <a:t>분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5548C-4A96-40A0-83CA-52EFBE0B4F28}"/>
              </a:ext>
            </a:extLst>
          </p:cNvPr>
          <p:cNvSpPr txBox="1"/>
          <p:nvPr/>
        </p:nvSpPr>
        <p:spPr>
          <a:xfrm>
            <a:off x="559866" y="3619463"/>
            <a:ext cx="4836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가중치 </a:t>
            </a:r>
            <a:r>
              <a:rPr lang="en-US" altLang="ko-KR" sz="1200" dirty="0"/>
              <a:t>:  </a:t>
            </a:r>
            <a:r>
              <a:rPr lang="ko-KR" altLang="en-US" sz="1200" dirty="0"/>
              <a:t>그 업종의 특성</a:t>
            </a:r>
            <a:endParaRPr lang="en-US" altLang="ko-KR" sz="1200" dirty="0"/>
          </a:p>
          <a:p>
            <a:r>
              <a:rPr lang="en-US" altLang="ko-KR" sz="1200" dirty="0"/>
              <a:t>Ex) </a:t>
            </a:r>
            <a:r>
              <a:rPr lang="ko-KR" altLang="en-US" sz="1200" dirty="0"/>
              <a:t>아이스크림의 경우 조도와 온도 특성에 더 많은 영향을 받음</a:t>
            </a:r>
            <a:r>
              <a:rPr lang="en-US" altLang="ko-KR" sz="1200" dirty="0"/>
              <a:t>	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117474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06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 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34AC52F-1632-4E62-95C9-82FB2E0E704E}"/>
              </a:ext>
            </a:extLst>
          </p:cNvPr>
          <p:cNvSpPr/>
          <p:nvPr/>
        </p:nvSpPr>
        <p:spPr>
          <a:xfrm>
            <a:off x="320040" y="594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CF5C5ADE-E1F7-4EA9-A727-B66FE7E74BE0}"/>
              </a:ext>
            </a:extLst>
          </p:cNvPr>
          <p:cNvSpPr txBox="1"/>
          <p:nvPr/>
        </p:nvSpPr>
        <p:spPr>
          <a:xfrm>
            <a:off x="734111" y="8222674"/>
            <a:ext cx="10668180" cy="167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없으면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시간대에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A, B, C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얼마나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팔릴지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참고할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기준이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때문에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예측을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어려운건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사실이다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D6E4F-FC44-41C4-9734-48BA460358AA}"/>
              </a:ext>
            </a:extLst>
          </p:cNvPr>
          <p:cNvSpPr txBox="1"/>
          <p:nvPr/>
        </p:nvSpPr>
        <p:spPr>
          <a:xfrm>
            <a:off x="610985" y="1104398"/>
            <a:ext cx="863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초기 데이터를 만들자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88650-6F4C-4880-AA63-980CA2030484}"/>
              </a:ext>
            </a:extLst>
          </p:cNvPr>
          <p:cNvSpPr txBox="1"/>
          <p:nvPr/>
        </p:nvSpPr>
        <p:spPr>
          <a:xfrm>
            <a:off x="873605" y="1481027"/>
            <a:ext cx="573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3.</a:t>
            </a:r>
            <a:r>
              <a:rPr lang="en-US" altLang="ko-KR" dirty="0"/>
              <a:t> </a:t>
            </a:r>
            <a:r>
              <a:rPr lang="ko-KR" altLang="en-US" dirty="0"/>
              <a:t>최초 데이터가 만들어진 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324321-42C9-4A3E-B2EC-12E1E9373DF7}"/>
              </a:ext>
            </a:extLst>
          </p:cNvPr>
          <p:cNvSpPr txBox="1"/>
          <p:nvPr/>
        </p:nvSpPr>
        <p:spPr>
          <a:xfrm>
            <a:off x="1269076" y="1910423"/>
            <a:ext cx="86313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같은 작업을 반복하면 지금까지 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누적된 정보를 토대로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다시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년치 데이터를 생성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정확도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UP</a:t>
            </a: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62DD3-4F16-403C-BBB5-42E72AA58EC1}"/>
              </a:ext>
            </a:extLst>
          </p:cNvPr>
          <p:cNvSpPr txBox="1"/>
          <p:nvPr/>
        </p:nvSpPr>
        <p:spPr>
          <a:xfrm>
            <a:off x="820265" y="3104103"/>
            <a:ext cx="4468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생성된 </a:t>
            </a:r>
            <a:r>
              <a:rPr lang="en-US" altLang="ko-KR" sz="1600" dirty="0"/>
              <a:t>1</a:t>
            </a:r>
            <a:r>
              <a:rPr lang="ko-KR" altLang="en-US" sz="1600" dirty="0"/>
              <a:t>년치 데이터는 실제 기록된 데이터보다 예측할 때 반영 비율이 낮음</a:t>
            </a:r>
            <a:r>
              <a:rPr lang="en-US" altLang="ko-KR" sz="1600" dirty="0"/>
              <a:t>!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344277-3F04-4D27-B8CB-D6801C95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01" y="1602232"/>
            <a:ext cx="2270957" cy="28729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1D6D40-0126-4B8C-8452-1B19FD627281}"/>
              </a:ext>
            </a:extLst>
          </p:cNvPr>
          <p:cNvSpPr txBox="1"/>
          <p:nvPr/>
        </p:nvSpPr>
        <p:spPr>
          <a:xfrm>
            <a:off x="972591" y="3670093"/>
            <a:ext cx="41632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계속 생성하다 누적 데이터가 많아져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년치 데이터의 영향이 기존 데이터보다 적어지면 그만두면 됨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E24B3-9908-4814-AA0B-4C827EA73B5A}"/>
              </a:ext>
            </a:extLst>
          </p:cNvPr>
          <p:cNvSpPr txBox="1"/>
          <p:nvPr/>
        </p:nvSpPr>
        <p:spPr>
          <a:xfrm>
            <a:off x="2364580" y="4589151"/>
            <a:ext cx="6893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항시 오픈 전 잠깐 시간을 투자하면 초기 데이터의 정확도가 올라감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4E1A7-BAB3-4879-9849-793B3AD2A841}"/>
              </a:ext>
            </a:extLst>
          </p:cNvPr>
          <p:cNvSpPr txBox="1"/>
          <p:nvPr/>
        </p:nvSpPr>
        <p:spPr>
          <a:xfrm>
            <a:off x="6610618" y="1224185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생성 시간 약 </a:t>
            </a:r>
            <a:r>
              <a:rPr lang="en-US" altLang="ko-KR" dirty="0"/>
              <a:t>15~20</a:t>
            </a:r>
            <a:r>
              <a:rPr lang="ko-KR" altLang="en-US" dirty="0"/>
              <a:t>분 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5257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06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 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34AC52F-1632-4E62-95C9-82FB2E0E704E}"/>
              </a:ext>
            </a:extLst>
          </p:cNvPr>
          <p:cNvSpPr/>
          <p:nvPr/>
        </p:nvSpPr>
        <p:spPr>
          <a:xfrm>
            <a:off x="320040" y="594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D6E4F-FC44-41C4-9734-48BA460358AA}"/>
              </a:ext>
            </a:extLst>
          </p:cNvPr>
          <p:cNvSpPr txBox="1"/>
          <p:nvPr/>
        </p:nvSpPr>
        <p:spPr>
          <a:xfrm>
            <a:off x="610985" y="1104398"/>
            <a:ext cx="863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초기 데이터를 만들자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1871A0-27C4-40EA-8191-112AE062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5" y="1565515"/>
            <a:ext cx="5481586" cy="30896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986DFF-27D9-4B38-939F-4D96FE05D57E}"/>
              </a:ext>
            </a:extLst>
          </p:cNvPr>
          <p:cNvSpPr txBox="1"/>
          <p:nvPr/>
        </p:nvSpPr>
        <p:spPr>
          <a:xfrm>
            <a:off x="4926675" y="4707081"/>
            <a:ext cx="4753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실제로 생성된 향후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년치의 데이터</a:t>
            </a:r>
          </a:p>
        </p:txBody>
      </p:sp>
    </p:spTree>
    <p:extLst>
      <p:ext uri="{BB962C8B-B14F-4D97-AF65-F5344CB8AC3E}">
        <p14:creationId xmlns:p14="http://schemas.microsoft.com/office/powerpoint/2010/main" val="1479802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06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 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34AC52F-1632-4E62-95C9-82FB2E0E704E}"/>
              </a:ext>
            </a:extLst>
          </p:cNvPr>
          <p:cNvSpPr/>
          <p:nvPr/>
        </p:nvSpPr>
        <p:spPr>
          <a:xfrm>
            <a:off x="320040" y="594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CDDFC8-E0F2-49BF-924E-4CA498E18239}"/>
              </a:ext>
            </a:extLst>
          </p:cNvPr>
          <p:cNvSpPr/>
          <p:nvPr/>
        </p:nvSpPr>
        <p:spPr>
          <a:xfrm>
            <a:off x="308610" y="1130589"/>
            <a:ext cx="82524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이렇게 </a:t>
            </a:r>
            <a:r>
              <a:rPr lang="en-US" altLang="ko-KR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년치의 초기 데이터가 있으면 사업을 처음 시작한 사람도 이 예측 시스템을 원활히 사용할 수 있다</a:t>
            </a:r>
            <a:r>
              <a:rPr lang="en-US" altLang="ko-KR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.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9BA60D-30BF-41AF-BA89-61DFC717D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75" y="2492418"/>
            <a:ext cx="2336231" cy="1891233"/>
          </a:xfrm>
          <a:prstGeom prst="rect">
            <a:avLst/>
          </a:prstGeom>
        </p:spPr>
      </p:pic>
      <p:sp>
        <p:nvSpPr>
          <p:cNvPr id="31" name="TextBox 12">
            <a:extLst>
              <a:ext uri="{FF2B5EF4-FFF2-40B4-BE49-F238E27FC236}">
                <a16:creationId xmlns:a16="http://schemas.microsoft.com/office/drawing/2014/main" id="{CF5C5ADE-E1F7-4EA9-A727-B66FE7E74BE0}"/>
              </a:ext>
            </a:extLst>
          </p:cNvPr>
          <p:cNvSpPr txBox="1"/>
          <p:nvPr/>
        </p:nvSpPr>
        <p:spPr>
          <a:xfrm>
            <a:off x="734111" y="8222674"/>
            <a:ext cx="10668180" cy="167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없으면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시간대에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A, B, C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얼마나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팔릴지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참고할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기준이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때문에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예측을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어려운건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사실이다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.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CFCDA51B-F4C2-4AC3-86CF-DDD020B2E526}"/>
              </a:ext>
            </a:extLst>
          </p:cNvPr>
          <p:cNvSpPr/>
          <p:nvPr/>
        </p:nvSpPr>
        <p:spPr>
          <a:xfrm>
            <a:off x="4107873" y="3068708"/>
            <a:ext cx="928254" cy="5957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BB5996-A9CB-4397-9A6E-FA39CFFB5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687" y="2319858"/>
            <a:ext cx="2743438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30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06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 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34AC52F-1632-4E62-95C9-82FB2E0E704E}"/>
              </a:ext>
            </a:extLst>
          </p:cNvPr>
          <p:cNvSpPr/>
          <p:nvPr/>
        </p:nvSpPr>
        <p:spPr>
          <a:xfrm>
            <a:off x="320040" y="594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그 외 </a:t>
            </a:r>
            <a:r>
              <a:rPr lang="ko-KR" altLang="en-US" sz="2400" b="1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변인들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CDDFC8-E0F2-49BF-924E-4CA498E18239}"/>
              </a:ext>
            </a:extLst>
          </p:cNvPr>
          <p:cNvSpPr/>
          <p:nvPr/>
        </p:nvSpPr>
        <p:spPr>
          <a:xfrm>
            <a:off x="308610" y="1130589"/>
            <a:ext cx="8252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실제로 제품을 사용할 때 겪을 수 있는 문제점 해결안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CF5C5ADE-E1F7-4EA9-A727-B66FE7E74BE0}"/>
              </a:ext>
            </a:extLst>
          </p:cNvPr>
          <p:cNvSpPr txBox="1"/>
          <p:nvPr/>
        </p:nvSpPr>
        <p:spPr>
          <a:xfrm>
            <a:off x="734111" y="8222674"/>
            <a:ext cx="10668180" cy="167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없으면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시간대에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A, B, C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얼마나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팔릴지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참고할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기준이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때문에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예측을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어려운건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사실이다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AADB0F-1E2E-4862-81E9-B78730FDB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08" y="1468917"/>
            <a:ext cx="1638383" cy="124517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72982A-7372-4A10-84B9-250C1AD024B2}"/>
              </a:ext>
            </a:extLst>
          </p:cNvPr>
          <p:cNvSpPr/>
          <p:nvPr/>
        </p:nvSpPr>
        <p:spPr>
          <a:xfrm>
            <a:off x="518160" y="1638691"/>
            <a:ext cx="3093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주말이 아닌 </a:t>
            </a:r>
            <a:r>
              <a:rPr lang="ko-KR" altLang="en-US" dirty="0" err="1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빨간날의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경우에 직접 휴일 지정 가능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1D5D41-860F-4823-BF17-700A33F29EFE}"/>
              </a:ext>
            </a:extLst>
          </p:cNvPr>
          <p:cNvSpPr/>
          <p:nvPr/>
        </p:nvSpPr>
        <p:spPr>
          <a:xfrm>
            <a:off x="518160" y="2787865"/>
            <a:ext cx="82524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2. 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작업 도중 </a:t>
            </a:r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SD 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카드 정보를 </a:t>
            </a:r>
            <a:endParaRPr lang="en-US" altLang="ko-KR" dirty="0">
              <a:latin typeface="맑은 고딕" panose="020B0503020000020004" pitchFamily="50" charset="-127"/>
              <a:ea typeface="Calibri" pitchFamily="34" charset="-122"/>
              <a:cs typeface="Calibri" pitchFamily="34" charset="-120"/>
              <a:sym typeface="Wingdings" panose="05000000000000000000" pitchFamily="2" charset="2"/>
            </a:endParaRPr>
          </a:p>
          <a:p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강제로 제거했을 때 </a:t>
            </a:r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( SD 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카드 정보 유실 대비</a:t>
            </a:r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A29533-F455-4A95-9462-90849A71A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2863358"/>
            <a:ext cx="1501270" cy="49534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C2AE96-E479-49F6-A799-11068E1E2B79}"/>
              </a:ext>
            </a:extLst>
          </p:cNvPr>
          <p:cNvSpPr/>
          <p:nvPr/>
        </p:nvSpPr>
        <p:spPr>
          <a:xfrm>
            <a:off x="518160" y="3855501"/>
            <a:ext cx="8252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3. 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지점이 변경 등을 이유로 정보를 리셋하고 싶을 때 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580406-BEF8-48CB-871F-94E5850B285E}"/>
              </a:ext>
            </a:extLst>
          </p:cNvPr>
          <p:cNvSpPr/>
          <p:nvPr/>
        </p:nvSpPr>
        <p:spPr>
          <a:xfrm>
            <a:off x="891540" y="4179808"/>
            <a:ext cx="8252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SD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포맷 후 연결하면 바로 새롭게 시작 가능</a:t>
            </a:r>
            <a:endParaRPr lang="en-US" altLang="ko-KR" dirty="0">
              <a:latin typeface="맑은 고딕" panose="020B0503020000020004" pitchFamily="50" charset="-127"/>
              <a:ea typeface="Calibri" pitchFamily="34" charset="-122"/>
              <a:cs typeface="Calibri" pitchFamily="34" charset="-12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10000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06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초기 데이터 생성 시스템 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34AC52F-1632-4E62-95C9-82FB2E0E704E}"/>
              </a:ext>
            </a:extLst>
          </p:cNvPr>
          <p:cNvSpPr/>
          <p:nvPr/>
        </p:nvSpPr>
        <p:spPr>
          <a:xfrm>
            <a:off x="320040" y="594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그 외 </a:t>
            </a:r>
            <a:r>
              <a:rPr lang="ko-KR" altLang="en-US" sz="2400" b="1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변인들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CDDFC8-E0F2-49BF-924E-4CA498E18239}"/>
              </a:ext>
            </a:extLst>
          </p:cNvPr>
          <p:cNvSpPr/>
          <p:nvPr/>
        </p:nvSpPr>
        <p:spPr>
          <a:xfrm>
            <a:off x="308610" y="1130589"/>
            <a:ext cx="8252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실제로 제품을 사용할 때 겪을 수 있는 문제점 해결안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CF5C5ADE-E1F7-4EA9-A727-B66FE7E74BE0}"/>
              </a:ext>
            </a:extLst>
          </p:cNvPr>
          <p:cNvSpPr txBox="1"/>
          <p:nvPr/>
        </p:nvSpPr>
        <p:spPr>
          <a:xfrm>
            <a:off x="734111" y="8222674"/>
            <a:ext cx="10668180" cy="167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없으면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시간대에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A, B, C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얼마나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팔릴지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참고할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기준이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없기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때문에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예측을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하기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어려운건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3207" b="1" spc="-195" dirty="0" err="1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사실이다</a:t>
            </a:r>
            <a:r>
              <a:rPr lang="en-US" sz="3207" b="1" spc="-195" dirty="0">
                <a:solidFill>
                  <a:srgbClr val="54545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15867F-181A-46B8-8F78-4631032093B6}"/>
              </a:ext>
            </a:extLst>
          </p:cNvPr>
          <p:cNvSpPr/>
          <p:nvPr/>
        </p:nvSpPr>
        <p:spPr>
          <a:xfrm>
            <a:off x="441960" y="1616797"/>
            <a:ext cx="82524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4. </a:t>
            </a:r>
            <a:r>
              <a:rPr lang="ko-KR" altLang="en-US" dirty="0" err="1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포스기에서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인식 못한 판매량을 기록하고 싶을 때</a:t>
            </a:r>
            <a:endParaRPr lang="en-US" altLang="ko-KR" dirty="0">
              <a:latin typeface="맑은 고딕" panose="020B0503020000020004" pitchFamily="50" charset="-127"/>
              <a:ea typeface="Calibri" pitchFamily="34" charset="-122"/>
              <a:cs typeface="Calibri" pitchFamily="34" charset="-120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     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누락 판매량 기록 가능</a:t>
            </a:r>
            <a:endParaRPr lang="en-US" altLang="ko-KR" dirty="0">
              <a:latin typeface="맑은 고딕" panose="020B0503020000020004" pitchFamily="50" charset="-127"/>
              <a:ea typeface="Calibri" pitchFamily="34" charset="-122"/>
              <a:cs typeface="Calibri" pitchFamily="34" charset="-120"/>
              <a:sym typeface="Wingdings" panose="05000000000000000000" pitchFamily="2" charset="2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E8E8080-851C-4673-B48F-E15188CE2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26" y="2273600"/>
            <a:ext cx="1792714" cy="13058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BBB465-FCE8-4935-9640-AED1F226F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024285"/>
            <a:ext cx="1306699" cy="1540614"/>
          </a:xfrm>
          <a:prstGeom prst="rect">
            <a:avLst/>
          </a:prstGeom>
        </p:spPr>
      </p:pic>
      <p:sp>
        <p:nvSpPr>
          <p:cNvPr id="16" name="Text 25">
            <a:extLst>
              <a:ext uri="{FF2B5EF4-FFF2-40B4-BE49-F238E27FC236}">
                <a16:creationId xmlns:a16="http://schemas.microsoft.com/office/drawing/2014/main" id="{1F79022E-2A05-45A5-87C9-DFB5F1C8B7E9}"/>
              </a:ext>
            </a:extLst>
          </p:cNvPr>
          <p:cNvSpPr/>
          <p:nvPr/>
        </p:nvSpPr>
        <p:spPr>
          <a:xfrm>
            <a:off x="5520380" y="32392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dirty="0">
                <a:latin typeface="맑은 고딕" panose="020B0503020000020004" pitchFamily="50" charset="-127"/>
              </a:rPr>
              <a:t>키패드로 직접 정보를 누적할 수 있음</a:t>
            </a:r>
            <a:r>
              <a:rPr lang="en-US" altLang="ko-KR" sz="1150" dirty="0">
                <a:latin typeface="맑은 고딕" panose="020B0503020000020004" pitchFamily="50" charset="-127"/>
              </a:rPr>
              <a:t>!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CA457B-7003-46B2-B67C-3DE6D3BD39E1}"/>
              </a:ext>
            </a:extLst>
          </p:cNvPr>
          <p:cNvSpPr/>
          <p:nvPr/>
        </p:nvSpPr>
        <p:spPr>
          <a:xfrm>
            <a:off x="468936" y="3689745"/>
            <a:ext cx="47279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5. 1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년치 정보 생성 도중 취소하고 싶을 때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FA5B7C-D7F8-4DB5-9CA3-3D00CDCE95FE}"/>
              </a:ext>
            </a:extLst>
          </p:cNvPr>
          <p:cNvSpPr/>
          <p:nvPr/>
        </p:nvSpPr>
        <p:spPr>
          <a:xfrm>
            <a:off x="891540" y="4160260"/>
            <a:ext cx="7726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ko-KR" altLang="en-US" dirty="0"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기존 데이터를 남겨두고 강제로 취소 가능</a:t>
            </a:r>
            <a:endParaRPr lang="en-US" altLang="ko-KR" dirty="0">
              <a:latin typeface="맑은 고딕" panose="020B0503020000020004" pitchFamily="50" charset="-127"/>
              <a:ea typeface="Calibri" pitchFamily="34" charset="-122"/>
              <a:cs typeface="Calibri" pitchFamily="34" charset="-12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3581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07  기대 효과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도입하면</a:t>
            </a:r>
            <a:r>
              <a:rPr 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무엇이 달라지는가?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5819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재고 부족·폐기 감소</a:t>
            </a:r>
            <a:endParaRPr lang="en-US" sz="1350" dirty="0">
              <a:latin typeface="맑은 고딕" panose="020B050302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011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시간대별 예측으로 사전 준비,</a:t>
            </a:r>
            <a:endParaRPr lang="en-US" sz="1150" dirty="0">
              <a:latin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불필요한 재고 폐기 비용 절감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anose="020B0503020000020004" pitchFamily="50" charset="-127"/>
              </a:rPr>
              <a:t>🏪</a:t>
            </a: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0" y="15819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소규모 매장 도입 가능</a:t>
            </a:r>
            <a:endParaRPr lang="en-US" sz="1350" dirty="0">
              <a:latin typeface="맑은 고딕" panose="020B050302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0" y="2011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수만 원대 저가 부품으로 구성,</a:t>
            </a:r>
            <a:endParaRPr lang="en-US" sz="1150" dirty="0">
              <a:latin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고가 솔루션 없이도 재고 관리 가능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54680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anose="020B0503020000020004" pitchFamily="50" charset="-127"/>
              </a:rPr>
              <a:t>🌦️</a:t>
            </a: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33192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환경</a:t>
            </a:r>
            <a:r>
              <a:rPr lang="en-US" sz="135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35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예측</a:t>
            </a:r>
            <a:endParaRPr lang="en-US" sz="1350" dirty="0">
              <a:latin typeface="맑은 고딕" panose="020B050302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37490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온도·습도·조도 등 실측 환경값을</a:t>
            </a:r>
            <a:endParaRPr lang="en-US" sz="1150" dirty="0">
              <a:latin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예측에 반영, 경험치보다 신뢰성 높음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54680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anose="020B0503020000020004" pitchFamily="50" charset="-127"/>
              </a:rPr>
              <a:t>📈</a:t>
            </a: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0" y="33192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데이터 누적 시 정확도 향상</a:t>
            </a:r>
            <a:endParaRPr lang="en-US" sz="1350" dirty="0">
              <a:latin typeface="맑은 고딕" panose="020B0503020000020004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0" y="37490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운영 기간이 길어질수록 유사 기록이</a:t>
            </a:r>
            <a:endParaRPr lang="en-US" sz="1150" dirty="0">
              <a:latin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3D5A6A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쌓여 예측 정확도가 향상됨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pic>
        <p:nvPicPr>
          <p:cNvPr id="2050" name="Picture 2" descr="물건 사는 사람 - 무료 상업개 아이콘">
            <a:extLst>
              <a:ext uri="{FF2B5EF4-FFF2-40B4-BE49-F238E27FC236}">
                <a16:creationId xmlns:a16="http://schemas.microsoft.com/office/drawing/2014/main" id="{3100643C-B1D6-497A-B7F2-2162C25D7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87652"/>
            <a:ext cx="674455" cy="674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08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판매모델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 모델 </a:t>
            </a:r>
            <a:r>
              <a:rPr lang="en-US" altLang="ko-KR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경쟁력 있는 상품인가</a:t>
            </a:r>
            <a:r>
              <a:rPr lang="en-US" altLang="ko-KR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55" y="1434762"/>
            <a:ext cx="4114800" cy="34527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35" y="1415036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2279" y="2585980"/>
            <a:ext cx="3154680" cy="2162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200" dirty="0"/>
              <a:t>이 시스템은 매장에 이미 있는 </a:t>
            </a:r>
            <a:r>
              <a:rPr lang="en-US" altLang="ko-KR" sz="1200" dirty="0"/>
              <a:t>POS</a:t>
            </a:r>
            <a:r>
              <a:rPr lang="ko-KR" altLang="en-US" sz="1200" dirty="0"/>
              <a:t>나 키오스크를 대체하지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거기서 발생한 판매 데이터를 가져와 예측에 사용함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 </a:t>
            </a:r>
            <a:r>
              <a:rPr lang="ko-KR" altLang="en-US" sz="1200" dirty="0"/>
              <a:t>업자 입장에서는 결제 시스템을 바꿀 필요가 없고</a:t>
            </a:r>
            <a:r>
              <a:rPr lang="en-US" altLang="ko-KR" sz="1200" dirty="0"/>
              <a:t>, </a:t>
            </a:r>
            <a:r>
              <a:rPr lang="ko-KR" altLang="en-US" sz="1200" dirty="0"/>
              <a:t>기존 운영 방식 위에 보조 장치를 추가하는 구조 </a:t>
            </a:r>
            <a:endParaRPr lang="en-US" altLang="ko-KR" sz="1200" dirty="0"/>
          </a:p>
          <a:p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/>
              <a:t>새 시스템으로 갈아타야 하는 부담이 작습니다</a:t>
            </a:r>
            <a:r>
              <a:rPr lang="en-US" altLang="ko-KR" sz="1200" dirty="0"/>
              <a:t>.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09162" y="1417319"/>
            <a:ext cx="4114800" cy="3452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2" y="1417320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-1281693" y="2849967"/>
            <a:ext cx="7466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32122" y="17876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00" b="1" dirty="0"/>
              <a:t>소형 매장에 맞는 저비용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로컬 예측 시스템도 가능</a:t>
            </a:r>
            <a:endParaRPr lang="en-US" sz="1350" b="1" dirty="0">
              <a:latin typeface="맑은 고딕" panose="020B050302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22522" y="2216237"/>
            <a:ext cx="3718560" cy="1759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200" dirty="0"/>
              <a:t>클라우드 서버나 복잡한 </a:t>
            </a:r>
            <a:r>
              <a:rPr lang="en-US" altLang="ko-KR" sz="1200" dirty="0"/>
              <a:t>AI </a:t>
            </a:r>
            <a:r>
              <a:rPr lang="ko-KR" altLang="en-US" sz="1200" dirty="0"/>
              <a:t>시스템 없이 </a:t>
            </a:r>
            <a:r>
              <a:rPr lang="en-US" altLang="ko-KR" sz="1200" dirty="0"/>
              <a:t>Arduino MEGA, SD</a:t>
            </a:r>
            <a:r>
              <a:rPr lang="ko-KR" altLang="en-US" sz="1200" dirty="0"/>
              <a:t>카드</a:t>
            </a:r>
            <a:r>
              <a:rPr lang="en-US" altLang="ko-KR" sz="1200" dirty="0"/>
              <a:t>, LCD</a:t>
            </a:r>
            <a:r>
              <a:rPr lang="ko-KR" altLang="en-US" sz="1200" dirty="0"/>
              <a:t>만으로 동작할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/>
              <a:t>소형 매장에는 오히려 저렴하고 이해하기 쉬운 예측 보조 장치로써 동작 가능</a:t>
            </a:r>
            <a:endParaRPr lang="en-US" sz="1150" dirty="0">
              <a:latin typeface="맑은 고딕" panose="020B0503020000020004" pitchFamily="50" charset="-127"/>
            </a:endParaRPr>
          </a:p>
        </p:txBody>
      </p:sp>
      <p:pic>
        <p:nvPicPr>
          <p:cNvPr id="3074" name="Picture 2" descr="아이스크림 - 무료 음식개 아이콘">
            <a:extLst>
              <a:ext uri="{FF2B5EF4-FFF2-40B4-BE49-F238E27FC236}">
                <a16:creationId xmlns:a16="http://schemas.microsoft.com/office/drawing/2014/main" id="{02184E47-46BD-4402-8573-B628612C5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828" y="1623909"/>
            <a:ext cx="612648" cy="61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만화 Pos 기계 아이콘 다운로드, 다운로드 아이콘, 만화 아이콘, 기계 아이콘 PNG 일러스트 및 PSD 이미지 무료 다운로드 -  Pngtree">
            <a:extLst>
              <a:ext uri="{FF2B5EF4-FFF2-40B4-BE49-F238E27FC236}">
                <a16:creationId xmlns:a16="http://schemas.microsoft.com/office/drawing/2014/main" id="{96B3AF2B-F8DC-4C8C-9EC1-79F27A0FD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54" y="1408347"/>
            <a:ext cx="1297352" cy="129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2F9A8D49-CAA8-487D-858A-531ED22E43CE}"/>
              </a:ext>
            </a:extLst>
          </p:cNvPr>
          <p:cNvSpPr/>
          <p:nvPr/>
        </p:nvSpPr>
        <p:spPr>
          <a:xfrm>
            <a:off x="1572787" y="1925237"/>
            <a:ext cx="25521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00" b="1" dirty="0"/>
              <a:t>기존 </a:t>
            </a:r>
            <a:r>
              <a:rPr lang="en-US" altLang="ko-KR" sz="1400" b="1" dirty="0"/>
              <a:t>POS </a:t>
            </a:r>
            <a:r>
              <a:rPr lang="ko-KR" altLang="en-US" sz="1400" b="1" dirty="0"/>
              <a:t>데이터를 활용하므로 도입 장벽이 낮다</a:t>
            </a:r>
            <a:endParaRPr lang="en-US" sz="1350" b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9545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포스기 카드단말기 토탈솔루션 메타포스 : 메타이노베이션">
            <a:extLst>
              <a:ext uri="{FF2B5EF4-FFF2-40B4-BE49-F238E27FC236}">
                <a16:creationId xmlns:a16="http://schemas.microsoft.com/office/drawing/2014/main" id="{EA338F56-E586-4BA0-958F-0A3C78B2E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606" y="1133687"/>
            <a:ext cx="2815634" cy="281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08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판매모델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판매 모델 </a:t>
            </a:r>
            <a:r>
              <a:rPr lang="en-US" altLang="ko-KR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경쟁력 있는 상품인가</a:t>
            </a:r>
            <a:r>
              <a:rPr lang="en-US" altLang="ko-KR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56634" y="1434762"/>
            <a:ext cx="4831740" cy="34527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34" y="1424093"/>
            <a:ext cx="4831740" cy="11295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anose="020B0503020000020004" pitchFamily="50" charset="-127"/>
              </a:rPr>
              <a:t>📉</a:t>
            </a: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26225" y="1730501"/>
            <a:ext cx="3445775" cy="506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00" b="1" dirty="0" err="1"/>
              <a:t>프렌차이즈</a:t>
            </a:r>
            <a:r>
              <a:rPr lang="ko-KR" altLang="en-US" sz="1400" b="1" dirty="0"/>
              <a:t> 등을 대상으로도 판매 가능한 제품</a:t>
            </a:r>
            <a:endParaRPr lang="en-US" sz="1350" b="1" dirty="0">
              <a:latin typeface="맑은 고딕" panose="020B050302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8547" y="2299714"/>
            <a:ext cx="3923453" cy="2249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dirty="0">
                <a:latin typeface="맑은 고딕" panose="020B0503020000020004" pitchFamily="50" charset="-127"/>
              </a:rPr>
              <a:t>데이터가 쌓이게 되면 그에 따라 가중치 또한 변하게 됨</a:t>
            </a:r>
            <a:r>
              <a:rPr lang="en-US" altLang="ko-KR" sz="1150" dirty="0">
                <a:latin typeface="맑은 고딕" panose="020B0503020000020004" pitchFamily="50" charset="-127"/>
              </a:rPr>
              <a:t>. </a:t>
            </a:r>
          </a:p>
          <a:p>
            <a:pPr marL="0" indent="0">
              <a:buNone/>
            </a:pPr>
            <a:endParaRPr lang="en-US" altLang="ko-KR" sz="1150" dirty="0">
              <a:latin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ko-KR" altLang="en-US" sz="1150" dirty="0">
                <a:latin typeface="맑은 고딕" panose="020B0503020000020004" pitchFamily="50" charset="-127"/>
              </a:rPr>
              <a:t>어떤 데이터가 그 매장</a:t>
            </a:r>
            <a:r>
              <a:rPr lang="en-US" altLang="ko-KR" sz="1150" dirty="0">
                <a:latin typeface="맑은 고딕" panose="020B0503020000020004" pitchFamily="50" charset="-127"/>
              </a:rPr>
              <a:t>, </a:t>
            </a:r>
            <a:r>
              <a:rPr lang="ko-KR" altLang="en-US" sz="1150" dirty="0">
                <a:latin typeface="맑은 고딕" panose="020B0503020000020004" pitchFamily="50" charset="-127"/>
              </a:rPr>
              <a:t>그 위치에서 중요한 변인으로 작용하는지 시스템이 알아서 수정함</a:t>
            </a:r>
            <a:endParaRPr lang="en-US" altLang="ko-KR" sz="1150" dirty="0">
              <a:latin typeface="맑은 고딕" panose="020B050302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50" dirty="0">
                <a:latin typeface="맑은 고딕" panose="020B0503020000020004" pitchFamily="50" charset="-127"/>
                <a:sym typeface="Wingdings" panose="05000000000000000000" pitchFamily="2" charset="2"/>
              </a:rPr>
              <a:t>전체 매장이 아닌 단일 매장의 특성을 반영하기 때문에 예측 정확도가 높고 필요하다면 가중치 파일을 꺼내 중요 </a:t>
            </a:r>
            <a:r>
              <a:rPr lang="ko-KR" altLang="en-US" sz="1150" dirty="0" err="1">
                <a:latin typeface="맑은 고딕" panose="020B0503020000020004" pitchFamily="50" charset="-127"/>
                <a:sym typeface="Wingdings" panose="05000000000000000000" pitchFamily="2" charset="2"/>
              </a:rPr>
              <a:t>변인을</a:t>
            </a:r>
            <a:r>
              <a:rPr lang="ko-KR" altLang="en-US" sz="1150" dirty="0">
                <a:latin typeface="맑은 고딕" panose="020B0503020000020004" pitchFamily="50" charset="-127"/>
                <a:sym typeface="Wingdings" panose="05000000000000000000" pitchFamily="2" charset="2"/>
              </a:rPr>
              <a:t> 분석 가능</a:t>
            </a:r>
            <a:endParaRPr lang="en-US" altLang="ko-KR" sz="1150" dirty="0">
              <a:latin typeface="맑은 고딕" panose="020B0503020000020004" pitchFamily="50" charset="-127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sz="1150" dirty="0">
              <a:latin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ko-KR" altLang="en-US" sz="1150" dirty="0">
                <a:latin typeface="맑은 고딕" panose="020B0503020000020004" pitchFamily="50" charset="-127"/>
              </a:rPr>
              <a:t>모든 </a:t>
            </a:r>
            <a:r>
              <a:rPr lang="ko-KR" altLang="en-US" sz="1150" dirty="0" err="1">
                <a:latin typeface="맑은 고딕" panose="020B0503020000020004" pitchFamily="50" charset="-127"/>
              </a:rPr>
              <a:t>프렌차이즈가</a:t>
            </a:r>
            <a:r>
              <a:rPr lang="ko-KR" altLang="en-US" sz="1150" dirty="0">
                <a:latin typeface="맑은 고딕" panose="020B0503020000020004" pitchFamily="50" charset="-127"/>
              </a:rPr>
              <a:t> 지점별</a:t>
            </a:r>
            <a:r>
              <a:rPr lang="en-US" altLang="ko-KR" sz="1150" dirty="0">
                <a:latin typeface="맑은 고딕" panose="020B0503020000020004" pitchFamily="50" charset="-127"/>
              </a:rPr>
              <a:t>, </a:t>
            </a:r>
            <a:r>
              <a:rPr lang="ko-KR" altLang="en-US" sz="1150" dirty="0" err="1">
                <a:latin typeface="맑은 고딕" panose="020B0503020000020004" pitchFamily="50" charset="-127"/>
              </a:rPr>
              <a:t>메뉴별</a:t>
            </a:r>
            <a:r>
              <a:rPr lang="en-US" altLang="ko-KR" sz="1150" dirty="0">
                <a:latin typeface="맑은 고딕" panose="020B0503020000020004" pitchFamily="50" charset="-127"/>
              </a:rPr>
              <a:t>, </a:t>
            </a:r>
            <a:r>
              <a:rPr lang="ko-KR" altLang="en-US" sz="1150" dirty="0">
                <a:latin typeface="맑은 고딕" panose="020B0503020000020004" pitchFamily="50" charset="-127"/>
              </a:rPr>
              <a:t>시간대별 예측을 하는 것이 아니기에 강점이 있음</a:t>
            </a:r>
            <a:endParaRPr lang="en-US" altLang="ko-KR" sz="1150" dirty="0">
              <a:latin typeface="맑은 고딕" panose="020B0503020000020004" pitchFamily="50" charset="-127"/>
            </a:endParaRPr>
          </a:p>
          <a:p>
            <a:endParaRPr lang="en-US" sz="1150" dirty="0">
              <a:latin typeface="맑은 고딕" panose="020B050302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-1281693" y="2849967"/>
            <a:ext cx="7466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>
              <a:latin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8FD41A3-15B3-478D-9D49-CE2D49ED9D6B}"/>
              </a:ext>
            </a:extLst>
          </p:cNvPr>
          <p:cNvSpPr/>
          <p:nvPr/>
        </p:nvSpPr>
        <p:spPr>
          <a:xfrm>
            <a:off x="5662507" y="3542452"/>
            <a:ext cx="1225973" cy="765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DB2D22-6CD7-49AE-8EDC-FFD18AA1C82B}"/>
              </a:ext>
            </a:extLst>
          </p:cNvPr>
          <p:cNvSpPr/>
          <p:nvPr/>
        </p:nvSpPr>
        <p:spPr>
          <a:xfrm>
            <a:off x="5791200" y="3644053"/>
            <a:ext cx="934720" cy="36576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AUTO 13:45</a:t>
            </a:r>
          </a:p>
          <a:p>
            <a:pPr algn="ctr"/>
            <a:r>
              <a:rPr lang="en-US" altLang="ko-KR" sz="800" dirty="0"/>
              <a:t>A : 00 B : 00 C:00</a:t>
            </a:r>
            <a:endParaRPr lang="ko-KR" altLang="en-US" sz="800" dirty="0"/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BD4F18DA-FDD4-4031-8531-E91CFFA4A581}"/>
              </a:ext>
            </a:extLst>
          </p:cNvPr>
          <p:cNvSpPr/>
          <p:nvPr/>
        </p:nvSpPr>
        <p:spPr>
          <a:xfrm>
            <a:off x="5562552" y="2734996"/>
            <a:ext cx="1542675" cy="784401"/>
          </a:xfrm>
          <a:custGeom>
            <a:avLst/>
            <a:gdLst>
              <a:gd name="connsiteX0" fmla="*/ 1542675 w 1542675"/>
              <a:gd name="connsiteY0" fmla="*/ 0 h 784401"/>
              <a:gd name="connsiteX1" fmla="*/ 723101 w 1542675"/>
              <a:gd name="connsiteY1" fmla="*/ 20320 h 784401"/>
              <a:gd name="connsiteX2" fmla="*/ 1454621 w 1542675"/>
              <a:gd name="connsiteY2" fmla="*/ 209973 h 784401"/>
              <a:gd name="connsiteX3" fmla="*/ 127048 w 1542675"/>
              <a:gd name="connsiteY3" fmla="*/ 365760 h 784401"/>
              <a:gd name="connsiteX4" fmla="*/ 404755 w 1542675"/>
              <a:gd name="connsiteY4" fmla="*/ 460587 h 784401"/>
              <a:gd name="connsiteX5" fmla="*/ 11901 w 1542675"/>
              <a:gd name="connsiteY5" fmla="*/ 514773 h 784401"/>
              <a:gd name="connsiteX6" fmla="*/ 99955 w 1542675"/>
              <a:gd name="connsiteY6" fmla="*/ 758613 h 784401"/>
              <a:gd name="connsiteX7" fmla="*/ 79635 w 1542675"/>
              <a:gd name="connsiteY7" fmla="*/ 765387 h 7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2675" h="784401">
                <a:moveTo>
                  <a:pt x="1542675" y="0"/>
                </a:moveTo>
                <a:lnTo>
                  <a:pt x="723101" y="20320"/>
                </a:lnTo>
                <a:cubicBezTo>
                  <a:pt x="708425" y="55315"/>
                  <a:pt x="1553963" y="152400"/>
                  <a:pt x="1454621" y="209973"/>
                </a:cubicBezTo>
                <a:cubicBezTo>
                  <a:pt x="1355279" y="267546"/>
                  <a:pt x="302026" y="323991"/>
                  <a:pt x="127048" y="365760"/>
                </a:cubicBezTo>
                <a:cubicBezTo>
                  <a:pt x="-47930" y="407529"/>
                  <a:pt x="423946" y="435752"/>
                  <a:pt x="404755" y="460587"/>
                </a:cubicBezTo>
                <a:cubicBezTo>
                  <a:pt x="385564" y="485422"/>
                  <a:pt x="62701" y="465102"/>
                  <a:pt x="11901" y="514773"/>
                </a:cubicBezTo>
                <a:cubicBezTo>
                  <a:pt x="-38899" y="564444"/>
                  <a:pt x="88666" y="716844"/>
                  <a:pt x="99955" y="758613"/>
                </a:cubicBezTo>
                <a:cubicBezTo>
                  <a:pt x="111244" y="800382"/>
                  <a:pt x="95439" y="782884"/>
                  <a:pt x="79635" y="76538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F3D3F5-DFA3-49DD-B731-A228BEAB6756}"/>
              </a:ext>
            </a:extLst>
          </p:cNvPr>
          <p:cNvSpPr/>
          <p:nvPr/>
        </p:nvSpPr>
        <p:spPr>
          <a:xfrm>
            <a:off x="5633040" y="3460384"/>
            <a:ext cx="128693" cy="1180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750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09  </a:t>
            </a:r>
            <a:r>
              <a:rPr lang="ko-KR" altLang="en-US" sz="1100" b="1" kern="0" spc="300" dirty="0">
                <a:solidFill>
                  <a:srgbClr val="028090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결론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이 </a:t>
            </a:r>
            <a:r>
              <a:rPr lang="ko-KR" altLang="en-US" sz="2400" b="1" dirty="0">
                <a:solidFill>
                  <a:srgbClr val="1A2E3B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장치만의 장점</a:t>
            </a:r>
            <a:endParaRPr lang="en-US" sz="2400" dirty="0">
              <a:latin typeface="맑은 고딕" panose="020B0503020000020004" pitchFamily="50" charset="-127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812C5C71-1572-4DB5-B1ED-447526B222B7}"/>
              </a:ext>
            </a:extLst>
          </p:cNvPr>
          <p:cNvSpPr/>
          <p:nvPr/>
        </p:nvSpPr>
        <p:spPr>
          <a:xfrm>
            <a:off x="626918" y="1270833"/>
            <a:ext cx="5336002" cy="3453568"/>
          </a:xfrm>
          <a:custGeom>
            <a:avLst/>
            <a:gdLst/>
            <a:ahLst/>
            <a:cxnLst/>
            <a:rect l="l" t="t" r="r" b="b"/>
            <a:pathLst>
              <a:path w="8924790" h="7318328">
                <a:moveTo>
                  <a:pt x="0" y="0"/>
                </a:moveTo>
                <a:lnTo>
                  <a:pt x="8924790" y="0"/>
                </a:lnTo>
                <a:lnTo>
                  <a:pt x="8924790" y="7318328"/>
                </a:lnTo>
                <a:lnTo>
                  <a:pt x="0" y="7318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5B91D1-D947-4B51-9148-E90138956497}"/>
              </a:ext>
            </a:extLst>
          </p:cNvPr>
          <p:cNvSpPr txBox="1"/>
          <p:nvPr/>
        </p:nvSpPr>
        <p:spPr>
          <a:xfrm>
            <a:off x="886999" y="1940234"/>
            <a:ext cx="44774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가게마다 위치</a:t>
            </a:r>
            <a:r>
              <a:rPr lang="en-US" altLang="ko-KR" dirty="0"/>
              <a:t>, </a:t>
            </a:r>
            <a:r>
              <a:rPr lang="ko-KR" altLang="en-US" dirty="0"/>
              <a:t>주변 상권</a:t>
            </a:r>
            <a:r>
              <a:rPr lang="en-US" altLang="ko-KR" dirty="0"/>
              <a:t>, </a:t>
            </a:r>
            <a:r>
              <a:rPr lang="ko-KR" altLang="en-US" dirty="0"/>
              <a:t>유동인구</a:t>
            </a:r>
            <a:r>
              <a:rPr lang="en-US" altLang="ko-KR" dirty="0"/>
              <a:t>, </a:t>
            </a:r>
            <a:r>
              <a:rPr lang="ko-KR" altLang="en-US" dirty="0"/>
              <a:t>학교 주변 여부</a:t>
            </a:r>
            <a:r>
              <a:rPr lang="en-US" altLang="ko-KR" dirty="0"/>
              <a:t>, </a:t>
            </a:r>
            <a:r>
              <a:rPr lang="ko-KR" altLang="en-US" dirty="0"/>
              <a:t>온도와 조도 조건이 모두 다르기 때문에 다른 가게의 데이터를 그대로 가져오면 정확도가 떨어질 수 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이 시스템은 어느 가게에 설치하더라도 그 가게의 환경과 판매 패턴이 쌓여 점점 그 매장에 맞는 예측으로 바뀌도록 구성되었다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3270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71800" y="176022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anose="020B0503020000020004" pitchFamily="50" charset="-127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5200" dirty="0">
              <a:latin typeface="맑은 고딕" panose="020B050302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44348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8EAAB8"/>
                </a:solidFill>
                <a:latin typeface="맑은 고딕" panose="020B0503020000020004" pitchFamily="50" charset="-127"/>
              </a:rPr>
              <a:t>마이크로프로세서</a:t>
            </a:r>
            <a:r>
              <a:rPr lang="en-US" sz="1100" dirty="0">
                <a:solidFill>
                  <a:srgbClr val="8EAAB8"/>
                </a:solidFill>
                <a:latin typeface="맑은 고딕" panose="020B0503020000020004" pitchFamily="50" charset="-127"/>
              </a:rPr>
              <a:t> </a:t>
            </a:r>
            <a:r>
              <a:rPr lang="en-US" sz="1100" dirty="0" err="1">
                <a:solidFill>
                  <a:srgbClr val="8EAAB8"/>
                </a:solidFill>
                <a:latin typeface="맑은 고딕" panose="020B0503020000020004" pitchFamily="50" charset="-127"/>
              </a:rPr>
              <a:t>응용</a:t>
            </a:r>
            <a:r>
              <a:rPr lang="en-US" sz="1100" dirty="0">
                <a:solidFill>
                  <a:srgbClr val="8EAAB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srgbClr val="8EAAB8"/>
                </a:solidFill>
                <a:latin typeface="맑은 고딕" panose="020B0503020000020004" pitchFamily="50" charset="-127"/>
              </a:rPr>
              <a:t>및 실습</a:t>
            </a:r>
            <a:endParaRPr lang="en-US" sz="1100" dirty="0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7862</TotalTime>
  <Words>1376</Words>
  <Application>Microsoft Office PowerPoint</Application>
  <PresentationFormat>화면 슬라이드 쇼(16:9)</PresentationFormat>
  <Paragraphs>267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Source Han Sans KR Bold</vt:lpstr>
      <vt:lpstr>맑은 고딕</vt:lpstr>
      <vt:lpstr>Arial</vt:lpstr>
      <vt:lpstr>Calibri</vt:lpstr>
      <vt:lpstr>Consolas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기반 아이스크림 매장 판매량 예측 장치</dc:title>
  <dc:subject>PptxGenJS Presentation</dc:subject>
  <dc:creator>PptxGenJS</dc:creator>
  <cp:lastModifiedBy>HOME</cp:lastModifiedBy>
  <cp:revision>38</cp:revision>
  <dcterms:created xsi:type="dcterms:W3CDTF">2026-05-19T11:58:38Z</dcterms:created>
  <dcterms:modified xsi:type="dcterms:W3CDTF">2026-06-23T14:56:02Z</dcterms:modified>
</cp:coreProperties>
</file>